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8"/>
  </p:handoutMasterIdLst>
  <p:sldIdLst>
    <p:sldId id="340" r:id="rId4"/>
    <p:sldId id="341" r:id="rId6"/>
    <p:sldId id="342" r:id="rId7"/>
    <p:sldId id="372" r:id="rId8"/>
    <p:sldId id="414" r:id="rId9"/>
    <p:sldId id="376" r:id="rId10"/>
    <p:sldId id="413" r:id="rId11"/>
    <p:sldId id="375" r:id="rId12"/>
    <p:sldId id="381" r:id="rId13"/>
    <p:sldId id="377" r:id="rId14"/>
    <p:sldId id="408" r:id="rId15"/>
    <p:sldId id="417" r:id="rId16"/>
    <p:sldId id="419" r:id="rId17"/>
    <p:sldId id="409" r:id="rId18"/>
    <p:sldId id="416" r:id="rId19"/>
    <p:sldId id="380" r:id="rId20"/>
    <p:sldId id="422" r:id="rId21"/>
    <p:sldId id="423" r:id="rId22"/>
    <p:sldId id="410" r:id="rId23"/>
    <p:sldId id="343" r:id="rId24"/>
    <p:sldId id="384" r:id="rId25"/>
    <p:sldId id="411" r:id="rId26"/>
    <p:sldId id="379" r:id="rId27"/>
  </p:sldIdLst>
  <p:sldSz cx="12192000" cy="6858000"/>
  <p:notesSz cx="6858000" cy="9144000"/>
  <p:embeddedFontLst>
    <p:embeddedFont>
      <p:font typeface="Inter" panose="02000503000000020004" charset="0"/>
      <p:regular r:id="rId32"/>
      <p:bold r:id="rId33"/>
    </p:embeddedFont>
    <p:embeddedFont>
      <p:font typeface="Inter Black" panose="02000503000000020004" charset="0"/>
      <p:bold r:id="rId34"/>
    </p:embeddedFont>
  </p:embeddedFontLst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B2FA"/>
    <a:srgbClr val="4DDBF8"/>
    <a:srgbClr val="4AC7F9"/>
    <a:srgbClr val="54A6FB"/>
    <a:srgbClr val="4589FB"/>
    <a:srgbClr val="4675FC"/>
    <a:srgbClr val="54FDED"/>
    <a:srgbClr val="4EE4F0"/>
    <a:srgbClr val="49CCF3"/>
    <a:srgbClr val="44B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tags" Target="tags/tag241.xml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fld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fld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9" Type="http://schemas.openxmlformats.org/officeDocument/2006/relationships/notesSlide" Target="../notesSlides/notesSlide1.xml"/><Relationship Id="rId28" Type="http://schemas.openxmlformats.org/officeDocument/2006/relationships/slideLayout" Target="../slideLayouts/slideLayout12.xml"/><Relationship Id="rId27" Type="http://schemas.openxmlformats.org/officeDocument/2006/relationships/tags" Target="../tags/tag150.xml"/><Relationship Id="rId26" Type="http://schemas.openxmlformats.org/officeDocument/2006/relationships/tags" Target="../tags/tag149.xml"/><Relationship Id="rId25" Type="http://schemas.openxmlformats.org/officeDocument/2006/relationships/tags" Target="../tags/tag148.xml"/><Relationship Id="rId24" Type="http://schemas.openxmlformats.org/officeDocument/2006/relationships/tags" Target="../tags/tag147.xml"/><Relationship Id="rId23" Type="http://schemas.openxmlformats.org/officeDocument/2006/relationships/tags" Target="../tags/tag146.xml"/><Relationship Id="rId22" Type="http://schemas.openxmlformats.org/officeDocument/2006/relationships/tags" Target="../tags/tag145.xml"/><Relationship Id="rId21" Type="http://schemas.openxmlformats.org/officeDocument/2006/relationships/tags" Target="../tags/tag144.xml"/><Relationship Id="rId20" Type="http://schemas.openxmlformats.org/officeDocument/2006/relationships/tags" Target="../tags/tag143.xml"/><Relationship Id="rId2" Type="http://schemas.openxmlformats.org/officeDocument/2006/relationships/tags" Target="../tags/tag125.xml"/><Relationship Id="rId19" Type="http://schemas.openxmlformats.org/officeDocument/2006/relationships/tags" Target="../tags/tag142.xml"/><Relationship Id="rId18" Type="http://schemas.openxmlformats.org/officeDocument/2006/relationships/tags" Target="../tags/tag141.xml"/><Relationship Id="rId17" Type="http://schemas.openxmlformats.org/officeDocument/2006/relationships/tags" Target="../tags/tag140.xml"/><Relationship Id="rId16" Type="http://schemas.openxmlformats.org/officeDocument/2006/relationships/tags" Target="../tags/tag139.xml"/><Relationship Id="rId15" Type="http://schemas.openxmlformats.org/officeDocument/2006/relationships/tags" Target="../tags/tag138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51.xml"/><Relationship Id="rId19" Type="http://schemas.openxmlformats.org/officeDocument/2006/relationships/tags" Target="../tags/tag168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tags" Target="../tags/tag184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0" Type="http://schemas.openxmlformats.org/officeDocument/2006/relationships/notesSlide" Target="../notesSlides/notesSlide6.xml"/><Relationship Id="rId2" Type="http://schemas.openxmlformats.org/officeDocument/2006/relationships/image" Target="../media/image3.jpeg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189.xml"/><Relationship Id="rId17" Type="http://schemas.openxmlformats.org/officeDocument/2006/relationships/image" Target="../media/image13.jpeg"/><Relationship Id="rId16" Type="http://schemas.openxmlformats.org/officeDocument/2006/relationships/tags" Target="../tags/tag188.xml"/><Relationship Id="rId15" Type="http://schemas.openxmlformats.org/officeDocument/2006/relationships/tags" Target="../tags/tag187.xml"/><Relationship Id="rId14" Type="http://schemas.openxmlformats.org/officeDocument/2006/relationships/image" Target="../media/image12.svg"/><Relationship Id="rId13" Type="http://schemas.openxmlformats.org/officeDocument/2006/relationships/image" Target="../media/image11.png"/><Relationship Id="rId12" Type="http://schemas.openxmlformats.org/officeDocument/2006/relationships/tags" Target="../tags/tag186.xml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tags" Target="../tags/tag183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9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190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19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99.xml"/><Relationship Id="rId3" Type="http://schemas.openxmlformats.org/officeDocument/2006/relationships/image" Target="../media/image18.png"/><Relationship Id="rId2" Type="http://schemas.openxmlformats.org/officeDocument/2006/relationships/tags" Target="../tags/tag198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204.xml"/><Relationship Id="rId5" Type="http://schemas.openxmlformats.org/officeDocument/2006/relationships/tags" Target="../tags/tag203.xml"/><Relationship Id="rId4" Type="http://schemas.openxmlformats.org/officeDocument/2006/relationships/tags" Target="../tags/tag202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08.xml"/><Relationship Id="rId1" Type="http://schemas.openxmlformats.org/officeDocument/2006/relationships/tags" Target="../tags/tag20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19.xml"/><Relationship Id="rId1" Type="http://schemas.openxmlformats.org/officeDocument/2006/relationships/tags" Target="../tags/tag2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229.xml"/><Relationship Id="rId4" Type="http://schemas.openxmlformats.org/officeDocument/2006/relationships/tags" Target="../tags/tag228.xml"/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 descr="VCG21128005867512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4445" y="0"/>
            <a:ext cx="12160885" cy="685736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1414145" y="1344930"/>
            <a:ext cx="951992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vi-VN" sz="6000">
                <a:solidFill>
                  <a:schemeClr val="accent6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Mô hình</a:t>
            </a:r>
            <a:r>
              <a:rPr lang="vi-VN" altLang="en-US" sz="6000">
                <a:solidFill>
                  <a:schemeClr val="accent6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 nhận diện </a:t>
            </a:r>
            <a:r>
              <a:rPr lang="en-US" altLang="vi-VN" sz="6000">
                <a:solidFill>
                  <a:schemeClr val="accent6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bình luận</a:t>
            </a:r>
            <a:r>
              <a:rPr lang="vi-VN" altLang="en-US" sz="6000">
                <a:solidFill>
                  <a:schemeClr val="accent6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 </a:t>
            </a:r>
            <a:r>
              <a:rPr lang="en-US" altLang="vi-VN" sz="6000">
                <a:solidFill>
                  <a:schemeClr val="accent6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thu hút người dùng “seeding” trực tuyến</a:t>
            </a:r>
            <a:endParaRPr lang="en-US" altLang="vi-VN" sz="6000">
              <a:solidFill>
                <a:schemeClr val="accent6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2" name="任意多边形: 形状 14"/>
          <p:cNvSpPr/>
          <p:nvPr>
            <p:custDataLst>
              <p:tags r:id="rId3"/>
            </p:custDataLst>
          </p:nvPr>
        </p:nvSpPr>
        <p:spPr>
          <a:xfrm>
            <a:off x="2377516" y="4206476"/>
            <a:ext cx="7438409" cy="110315"/>
          </a:xfrm>
          <a:custGeom>
            <a:avLst/>
            <a:gdLst>
              <a:gd name="connsiteX0" fmla="*/ 0 w 10926501"/>
              <a:gd name="connsiteY0" fmla="*/ 0 h 162045"/>
              <a:gd name="connsiteX1" fmla="*/ 3761772 w 10926501"/>
              <a:gd name="connsiteY1" fmla="*/ 0 h 162045"/>
              <a:gd name="connsiteX2" fmla="*/ 3923817 w 10926501"/>
              <a:gd name="connsiteY2" fmla="*/ 162045 h 162045"/>
              <a:gd name="connsiteX3" fmla="*/ 6979534 w 10926501"/>
              <a:gd name="connsiteY3" fmla="*/ 162045 h 162045"/>
              <a:gd name="connsiteX4" fmla="*/ 7141579 w 10926501"/>
              <a:gd name="connsiteY4" fmla="*/ 0 h 162045"/>
              <a:gd name="connsiteX5" fmla="*/ 10926501 w 10926501"/>
              <a:gd name="connsiteY5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6501" h="162045">
                <a:moveTo>
                  <a:pt x="0" y="0"/>
                </a:moveTo>
                <a:lnTo>
                  <a:pt x="3761772" y="0"/>
                </a:lnTo>
                <a:lnTo>
                  <a:pt x="3923817" y="162045"/>
                </a:lnTo>
                <a:lnTo>
                  <a:pt x="6979534" y="162045"/>
                </a:lnTo>
                <a:lnTo>
                  <a:pt x="7141579" y="0"/>
                </a:lnTo>
                <a:lnTo>
                  <a:pt x="10926501" y="0"/>
                </a:lnTo>
              </a:path>
            </a:pathLst>
          </a:custGeom>
          <a:noFill/>
          <a:ln w="38100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4629150" y="4827270"/>
            <a:ext cx="2934335" cy="559435"/>
          </a:xfrm>
          <a:custGeom>
            <a:avLst/>
            <a:gdLst>
              <a:gd name="connsiteX0" fmla="*/ 0 w 2880000"/>
              <a:gd name="connsiteY0" fmla="*/ 0 h 3600000"/>
              <a:gd name="connsiteX1" fmla="*/ 882815 w 2880000"/>
              <a:gd name="connsiteY1" fmla="*/ 0 h 3600000"/>
              <a:gd name="connsiteX2" fmla="*/ 942863 w 2880000"/>
              <a:gd name="connsiteY2" fmla="*/ 60048 h 3600000"/>
              <a:gd name="connsiteX3" fmla="*/ 1902766 w 2880000"/>
              <a:gd name="connsiteY3" fmla="*/ 60048 h 3600000"/>
              <a:gd name="connsiteX4" fmla="*/ 1962813 w 2880000"/>
              <a:gd name="connsiteY4" fmla="*/ 0 h 3600000"/>
              <a:gd name="connsiteX5" fmla="*/ 2880000 w 2880000"/>
              <a:gd name="connsiteY5" fmla="*/ 0 h 3600000"/>
              <a:gd name="connsiteX6" fmla="*/ 2880000 w 2880000"/>
              <a:gd name="connsiteY6" fmla="*/ 3600000 h 3600000"/>
              <a:gd name="connsiteX7" fmla="*/ 1957099 w 2880000"/>
              <a:gd name="connsiteY7" fmla="*/ 3600000 h 3600000"/>
              <a:gd name="connsiteX8" fmla="*/ 1902766 w 2880000"/>
              <a:gd name="connsiteY8" fmla="*/ 3545666 h 3600000"/>
              <a:gd name="connsiteX9" fmla="*/ 942863 w 2880000"/>
              <a:gd name="connsiteY9" fmla="*/ 3545666 h 3600000"/>
              <a:gd name="connsiteX10" fmla="*/ 888529 w 2880000"/>
              <a:gd name="connsiteY10" fmla="*/ 3600000 h 3600000"/>
              <a:gd name="connsiteX11" fmla="*/ 0 w 2880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80000" h="3600000">
                <a:moveTo>
                  <a:pt x="0" y="0"/>
                </a:moveTo>
                <a:lnTo>
                  <a:pt x="882815" y="0"/>
                </a:lnTo>
                <a:lnTo>
                  <a:pt x="942863" y="60048"/>
                </a:lnTo>
                <a:lnTo>
                  <a:pt x="1902766" y="60048"/>
                </a:lnTo>
                <a:lnTo>
                  <a:pt x="1962813" y="0"/>
                </a:lnTo>
                <a:lnTo>
                  <a:pt x="2880000" y="0"/>
                </a:lnTo>
                <a:lnTo>
                  <a:pt x="2880000" y="3600000"/>
                </a:lnTo>
                <a:lnTo>
                  <a:pt x="1957099" y="3600000"/>
                </a:lnTo>
                <a:lnTo>
                  <a:pt x="1902766" y="3545666"/>
                </a:lnTo>
                <a:lnTo>
                  <a:pt x="942863" y="3545666"/>
                </a:lnTo>
                <a:lnTo>
                  <a:pt x="888529" y="3600000"/>
                </a:lnTo>
                <a:lnTo>
                  <a:pt x="0" y="3600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  <a:gs pos="94000">
                <a:schemeClr val="accent1"/>
              </a:gs>
              <a:gs pos="25000">
                <a:schemeClr val="accent1">
                  <a:alpha val="0"/>
                </a:schemeClr>
              </a:gs>
            </a:gsLst>
            <a:lin ang="0" scaled="0"/>
          </a:gradFill>
          <a:ln w="19050">
            <a:gradFill>
              <a:gsLst>
                <a:gs pos="0">
                  <a:schemeClr val="accent6"/>
                </a:gs>
                <a:gs pos="100000">
                  <a:schemeClr val="accent1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>
              <a:cs typeface="Inter" panose="0200050300000002000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4"/>
            </p:custDataLst>
          </p:nvPr>
        </p:nvSpPr>
        <p:spPr>
          <a:xfrm>
            <a:off x="4476750" y="4907598"/>
            <a:ext cx="32385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Reporter: </a:t>
            </a:r>
            <a:r>
              <a:rPr lang="en-US" altLang="zh-CN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XXX</a:t>
            </a:r>
            <a:endParaRPr lang="en-US" altLang="zh-CN" sz="2000" dirty="0">
              <a:solidFill>
                <a:schemeClr val="lt2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41" name="任意多边形: 形状 138"/>
          <p:cNvSpPr/>
          <p:nvPr>
            <p:custDataLst>
              <p:tags r:id="rId5"/>
            </p:custDataLst>
          </p:nvPr>
        </p:nvSpPr>
        <p:spPr>
          <a:xfrm>
            <a:off x="308610" y="503873"/>
            <a:ext cx="11576685" cy="585025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19455" y="680720"/>
            <a:ext cx="2407920" cy="501650"/>
            <a:chOff x="1133" y="1072"/>
            <a:chExt cx="3792" cy="910"/>
          </a:xfrm>
        </p:grpSpPr>
        <p:sp>
          <p:nvSpPr>
            <p:cNvPr id="16" name="平行四边形 15"/>
            <p:cNvSpPr/>
            <p:nvPr>
              <p:custDataLst>
                <p:tags r:id="rId6"/>
              </p:custDataLst>
            </p:nvPr>
          </p:nvSpPr>
          <p:spPr>
            <a:xfrm>
              <a:off x="1403" y="1216"/>
              <a:ext cx="3361" cy="640"/>
            </a:xfrm>
            <a:prstGeom prst="parallelogram">
              <a:avLst>
                <a:gd name="adj" fmla="val 82143"/>
              </a:avLst>
            </a:prstGeom>
            <a:gradFill>
              <a:gsLst>
                <a:gs pos="0">
                  <a:srgbClr val="4675FC"/>
                </a:gs>
                <a:gs pos="100000">
                  <a:srgbClr val="4675FC">
                    <a:alpha val="0"/>
                  </a:srgbClr>
                </a:gs>
              </a:gsLst>
              <a:lin ang="18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2" name="平行四边形 1"/>
            <p:cNvSpPr/>
            <p:nvPr>
              <p:custDataLst>
                <p:tags r:id="rId7"/>
              </p:custDataLst>
            </p:nvPr>
          </p:nvSpPr>
          <p:spPr>
            <a:xfrm>
              <a:off x="1133" y="1072"/>
              <a:ext cx="3792" cy="910"/>
            </a:xfrm>
            <a:prstGeom prst="parallelogram">
              <a:avLst>
                <a:gd name="adj" fmla="val 82143"/>
              </a:avLst>
            </a:prstGeom>
            <a:noFill/>
            <a:ln w="12700">
              <a:gradFill flip="none" rotWithShape="1">
                <a:gsLst>
                  <a:gs pos="36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1214755" y="814070"/>
            <a:ext cx="12649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vi-VN" altLang="en-US" sz="1000" i="1" dirty="0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NTL production</a:t>
            </a:r>
            <a:endParaRPr lang="vi-VN" altLang="en-US" sz="1000" i="1" dirty="0">
              <a:solidFill>
                <a:schemeClr val="lt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5" name="任意多边形: 形状 21"/>
          <p:cNvSpPr/>
          <p:nvPr>
            <p:custDataLst>
              <p:tags r:id="rId9"/>
            </p:custDataLst>
          </p:nvPr>
        </p:nvSpPr>
        <p:spPr>
          <a:xfrm rot="16200000" flipV="1">
            <a:off x="-2199640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17818" y="176530"/>
            <a:ext cx="11556365" cy="135890"/>
            <a:chOff x="625" y="278"/>
            <a:chExt cx="18199" cy="214"/>
          </a:xfrm>
        </p:grpSpPr>
        <p:sp>
          <p:nvSpPr>
            <p:cNvPr id="24" name="任意多边形: 形状 21"/>
            <p:cNvSpPr/>
            <p:nvPr>
              <p:custDataLst>
                <p:tags r:id="rId10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11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12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 rot="16200000">
            <a:off x="11279505" y="749082"/>
            <a:ext cx="252730" cy="375920"/>
            <a:chOff x="17336" y="1136"/>
            <a:chExt cx="466" cy="911"/>
          </a:xfrm>
          <a:solidFill>
            <a:srgbClr val="2CF5FC"/>
          </a:solidFill>
        </p:grpSpPr>
        <p:sp>
          <p:nvSpPr>
            <p:cNvPr id="14" name="矩形 13"/>
            <p:cNvSpPr/>
            <p:nvPr>
              <p:custDataLst>
                <p:tags r:id="rId13"/>
              </p:custDataLst>
            </p:nvPr>
          </p:nvSpPr>
          <p:spPr>
            <a:xfrm>
              <a:off x="17448" y="1136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0" name="矩形 39"/>
            <p:cNvSpPr/>
            <p:nvPr>
              <p:custDataLst>
                <p:tags r:id="rId14"/>
              </p:custDataLst>
            </p:nvPr>
          </p:nvSpPr>
          <p:spPr>
            <a:xfrm>
              <a:off x="17448" y="1532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15"/>
              </p:custDataLst>
            </p:nvPr>
          </p:nvSpPr>
          <p:spPr>
            <a:xfrm>
              <a:off x="17336" y="1334"/>
              <a:ext cx="466" cy="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16"/>
              </p:custDataLst>
            </p:nvPr>
          </p:nvSpPr>
          <p:spPr>
            <a:xfrm>
              <a:off x="17336" y="1729"/>
              <a:ext cx="466" cy="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4" name="矩形 43"/>
            <p:cNvSpPr/>
            <p:nvPr>
              <p:custDataLst>
                <p:tags r:id="rId17"/>
              </p:custDataLst>
            </p:nvPr>
          </p:nvSpPr>
          <p:spPr>
            <a:xfrm>
              <a:off x="17448" y="1927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</p:grpSp>
      <p:sp>
        <p:nvSpPr>
          <p:cNvPr id="29" name="矩形 28"/>
          <p:cNvSpPr/>
          <p:nvPr>
            <p:custDataLst>
              <p:tags r:id="rId18"/>
            </p:custDataLst>
          </p:nvPr>
        </p:nvSpPr>
        <p:spPr>
          <a:xfrm>
            <a:off x="760730" y="5462270"/>
            <a:ext cx="187960" cy="439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 rot="10800000">
            <a:off x="317818" y="6526530"/>
            <a:ext cx="11556365" cy="135890"/>
            <a:chOff x="625" y="278"/>
            <a:chExt cx="18199" cy="214"/>
          </a:xfrm>
        </p:grpSpPr>
        <p:sp>
          <p:nvSpPr>
            <p:cNvPr id="32" name="任意多边形: 形状 21"/>
            <p:cNvSpPr/>
            <p:nvPr>
              <p:custDataLst>
                <p:tags r:id="rId19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34" name="直接连接符 33"/>
            <p:cNvCxnSpPr/>
            <p:nvPr>
              <p:custDataLst>
                <p:tags r:id="rId20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21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任意多边形: 形状 21"/>
          <p:cNvSpPr/>
          <p:nvPr>
            <p:custDataLst>
              <p:tags r:id="rId22"/>
            </p:custDataLst>
          </p:nvPr>
        </p:nvSpPr>
        <p:spPr>
          <a:xfrm rot="5400000" flipH="1" flipV="1">
            <a:off x="9685655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55" name="半闭框 54"/>
          <p:cNvSpPr/>
          <p:nvPr/>
        </p:nvSpPr>
        <p:spPr>
          <a:xfrm rot="10800000" flipH="1" flipV="1">
            <a:off x="4577154" y="47769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7279714" y="509956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46" name="矩形 45"/>
          <p:cNvSpPr/>
          <p:nvPr>
            <p:custDataLst>
              <p:tags r:id="rId23"/>
            </p:custDataLst>
          </p:nvPr>
        </p:nvSpPr>
        <p:spPr>
          <a:xfrm>
            <a:off x="890905" y="5485765"/>
            <a:ext cx="187960" cy="19939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7" name="矩形 46"/>
          <p:cNvSpPr/>
          <p:nvPr>
            <p:custDataLst>
              <p:tags r:id="rId24"/>
            </p:custDataLst>
          </p:nvPr>
        </p:nvSpPr>
        <p:spPr>
          <a:xfrm>
            <a:off x="11586845" y="5439410"/>
            <a:ext cx="76200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8" name="矩形 47"/>
          <p:cNvSpPr/>
          <p:nvPr>
            <p:custDataLst>
              <p:tags r:id="rId25"/>
            </p:custDataLst>
          </p:nvPr>
        </p:nvSpPr>
        <p:spPr>
          <a:xfrm flipH="1">
            <a:off x="11461750" y="5718175"/>
            <a:ext cx="150495" cy="1606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9" name="矩形 48"/>
          <p:cNvSpPr/>
          <p:nvPr>
            <p:custDataLst>
              <p:tags r:id="rId26"/>
            </p:custDataLst>
          </p:nvPr>
        </p:nvSpPr>
        <p:spPr>
          <a:xfrm flipH="1">
            <a:off x="11430635" y="5520690"/>
            <a:ext cx="85725" cy="914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</p:spTree>
    <p:custDataLst>
      <p:tags r:id="rId2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VCG211280058674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 rot="10800000">
            <a:off x="112395" y="0"/>
            <a:ext cx="12192635" cy="6858000"/>
          </a:xfrm>
          <a:prstGeom prst="rect">
            <a:avLst/>
          </a:prstGeom>
        </p:spPr>
      </p:pic>
      <p:sp>
        <p:nvSpPr>
          <p:cNvPr id="3" name="任意多边形: 形状 14"/>
          <p:cNvSpPr/>
          <p:nvPr>
            <p:custDataLst>
              <p:tags r:id="rId2"/>
            </p:custDataLst>
          </p:nvPr>
        </p:nvSpPr>
        <p:spPr>
          <a:xfrm>
            <a:off x="2376796" y="1261981"/>
            <a:ext cx="7438409" cy="110315"/>
          </a:xfrm>
          <a:custGeom>
            <a:avLst/>
            <a:gdLst>
              <a:gd name="connsiteX0" fmla="*/ 0 w 10926501"/>
              <a:gd name="connsiteY0" fmla="*/ 0 h 162045"/>
              <a:gd name="connsiteX1" fmla="*/ 3761772 w 10926501"/>
              <a:gd name="connsiteY1" fmla="*/ 0 h 162045"/>
              <a:gd name="connsiteX2" fmla="*/ 3923817 w 10926501"/>
              <a:gd name="connsiteY2" fmla="*/ 162045 h 162045"/>
              <a:gd name="connsiteX3" fmla="*/ 6979534 w 10926501"/>
              <a:gd name="connsiteY3" fmla="*/ 162045 h 162045"/>
              <a:gd name="connsiteX4" fmla="*/ 7141579 w 10926501"/>
              <a:gd name="connsiteY4" fmla="*/ 0 h 162045"/>
              <a:gd name="connsiteX5" fmla="*/ 10926501 w 10926501"/>
              <a:gd name="connsiteY5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6501" h="162045">
                <a:moveTo>
                  <a:pt x="0" y="0"/>
                </a:moveTo>
                <a:lnTo>
                  <a:pt x="3761772" y="0"/>
                </a:lnTo>
                <a:lnTo>
                  <a:pt x="3923817" y="162045"/>
                </a:lnTo>
                <a:lnTo>
                  <a:pt x="6979534" y="162045"/>
                </a:lnTo>
                <a:lnTo>
                  <a:pt x="7141579" y="0"/>
                </a:lnTo>
                <a:lnTo>
                  <a:pt x="10926501" y="0"/>
                </a:lnTo>
              </a:path>
            </a:pathLst>
          </a:custGeom>
          <a:noFill/>
          <a:ln w="19050">
            <a:gradFill>
              <a:gsLst>
                <a:gs pos="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77825" y="1706880"/>
            <a:ext cx="3560445" cy="1492250"/>
            <a:chOff x="1182" y="2068"/>
            <a:chExt cx="5607" cy="2350"/>
          </a:xfrm>
        </p:grpSpPr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 flipH="1">
              <a:off x="2248" y="2068"/>
              <a:ext cx="3927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0" i="1" dirty="0">
                  <a:ln>
                    <a:gradFill>
                      <a:gsLst>
                        <a:gs pos="0">
                          <a:schemeClr val="bg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51000">
                          <a:schemeClr val="bg1"/>
                        </a:gs>
                      </a:gsLst>
                      <a:lin ang="5400000" scaled="1"/>
                    </a:gra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rPr>
                <a:t>01</a:t>
              </a:r>
              <a:endPara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182" y="3211"/>
              <a:ext cx="5607" cy="1207"/>
              <a:chOff x="1279" y="3137"/>
              <a:chExt cx="5607" cy="1299"/>
            </a:xfrm>
          </p:grpSpPr>
          <p:sp>
            <p:nvSpPr>
              <p:cNvPr id="64" name="平行四边形 63"/>
              <p:cNvSpPr/>
              <p:nvPr>
                <p:custDataLst>
                  <p:tags r:id="rId4"/>
                </p:custDataLst>
              </p:nvPr>
            </p:nvSpPr>
            <p:spPr>
              <a:xfrm rot="10800000">
                <a:off x="1635" y="3137"/>
                <a:ext cx="5251" cy="1109"/>
              </a:xfrm>
              <a:prstGeom prst="parallelogram">
                <a:avLst>
                  <a:gd name="adj" fmla="val 68862"/>
                </a:avLst>
              </a:prstGeom>
              <a:noFill/>
              <a:ln w="25400">
                <a:gradFill flip="none" rotWithShape="1">
                  <a:gsLst>
                    <a:gs pos="200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>
                  <a:solidFill>
                    <a:schemeClr val="lt1"/>
                  </a:solidFill>
                  <a:cs typeface="Inter" panose="02000503000000020004" charset="0"/>
                </a:endParaRPr>
              </a:p>
            </p:txBody>
          </p:sp>
          <p:sp>
            <p:nvSpPr>
              <p:cNvPr id="63" name="平行四边形 62"/>
              <p:cNvSpPr/>
              <p:nvPr>
                <p:custDataLst>
                  <p:tags r:id="rId5"/>
                </p:custDataLst>
              </p:nvPr>
            </p:nvSpPr>
            <p:spPr>
              <a:xfrm rot="10800000">
                <a:off x="1279" y="3310"/>
                <a:ext cx="5242" cy="1126"/>
              </a:xfrm>
              <a:prstGeom prst="parallelogram">
                <a:avLst>
                  <a:gd name="adj" fmla="val 68862"/>
                </a:avLst>
              </a:prstGeom>
              <a:noFill/>
              <a:ln w="25400">
                <a:gradFill>
                  <a:gsLst>
                    <a:gs pos="2000">
                      <a:schemeClr val="accent1">
                        <a:alpha val="0"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cs typeface="Inter" panose="02000503000000020004" charset="0"/>
                </a:endParaRPr>
              </a:p>
            </p:txBody>
          </p:sp>
        </p:grpSp>
        <p:sp>
          <p:nvSpPr>
            <p:cNvPr id="65" name="文本框 64"/>
            <p:cNvSpPr txBox="1"/>
            <p:nvPr/>
          </p:nvSpPr>
          <p:spPr>
            <a:xfrm flipH="1">
              <a:off x="2150" y="3429"/>
              <a:ext cx="392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800" i="1" dirty="0">
                  <a:solidFill>
                    <a:schemeClr val="lt1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rPr>
                <a:t>Introduction</a:t>
              </a:r>
              <a:endParaRPr lang="zh-CN" altLang="en-US" sz="2800" i="1" dirty="0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6"/>
            </p:custDataLst>
          </p:nvPr>
        </p:nvSpPr>
        <p:spPr>
          <a:xfrm>
            <a:off x="4150995" y="493395"/>
            <a:ext cx="38900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4400" i="1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CONTENTS</a:t>
            </a:r>
            <a:endParaRPr lang="en-US" altLang="zh-CN" sz="4400" i="1">
              <a:solidFill>
                <a:schemeClr val="lt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 flipH="1">
            <a:off x="4992370" y="1706880"/>
            <a:ext cx="2493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02</a:t>
            </a:r>
            <a:endParaRPr lang="en-US" altLang="zh-CN" sz="8000" i="1" dirty="0">
              <a:ln>
                <a:gradFill>
                  <a:gsLst>
                    <a:gs pos="0">
                      <a:schemeClr val="bg1"/>
                    </a:gs>
                    <a:gs pos="56000">
                      <a:srgbClr val="FFFFFF">
                        <a:alpha val="0"/>
                      </a:srgbClr>
                    </a:gs>
                    <a:gs pos="51000">
                      <a:schemeClr val="bg1"/>
                    </a:gs>
                  </a:gsLst>
                  <a:lin ang="5400000" scaled="1"/>
                </a:gradFill>
              </a:ln>
              <a:noFill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 rot="0">
            <a:off x="4315460" y="2432685"/>
            <a:ext cx="3560445" cy="766445"/>
            <a:chOff x="1279" y="3137"/>
            <a:chExt cx="5607" cy="1299"/>
          </a:xfrm>
        </p:grpSpPr>
        <p:sp>
          <p:nvSpPr>
            <p:cNvPr id="13" name="平行四边形 12"/>
            <p:cNvSpPr/>
            <p:nvPr>
              <p:custDataLst>
                <p:tags r:id="rId8"/>
              </p:custDataLst>
            </p:nvPr>
          </p:nvSpPr>
          <p:spPr>
            <a:xfrm rot="10800000">
              <a:off x="1635" y="3137"/>
              <a:ext cx="5251" cy="1109"/>
            </a:xfrm>
            <a:prstGeom prst="parallelogram">
              <a:avLst>
                <a:gd name="adj" fmla="val 68862"/>
              </a:avLst>
            </a:prstGeom>
            <a:noFill/>
            <a:ln w="25400">
              <a:gradFill flip="none" rotWithShape="1">
                <a:gsLst>
                  <a:gs pos="200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>
              <p:custDataLst>
                <p:tags r:id="rId9"/>
              </p:custDataLst>
            </p:nvPr>
          </p:nvSpPr>
          <p:spPr>
            <a:xfrm rot="10800000">
              <a:off x="1279" y="3310"/>
              <a:ext cx="5242" cy="1126"/>
            </a:xfrm>
            <a:prstGeom prst="parallelogram">
              <a:avLst>
                <a:gd name="adj" fmla="val 68862"/>
              </a:avLst>
            </a:prstGeom>
            <a:noFill/>
            <a:ln w="25400">
              <a:gradFill>
                <a:gsLst>
                  <a:gs pos="2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 flipH="1">
            <a:off x="4930140" y="2571115"/>
            <a:ext cx="24936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i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Related  work</a:t>
            </a:r>
            <a:endParaRPr lang="en-US" altLang="zh-CN" sz="2800" i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 flipH="1">
            <a:off x="8930005" y="1706880"/>
            <a:ext cx="2493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03</a:t>
            </a:r>
            <a:endParaRPr lang="en-US" altLang="zh-CN" sz="8000" i="1" dirty="0">
              <a:ln>
                <a:gradFill>
                  <a:gsLst>
                    <a:gs pos="0">
                      <a:schemeClr val="bg1"/>
                    </a:gs>
                    <a:gs pos="56000">
                      <a:srgbClr val="FFFFFF">
                        <a:alpha val="0"/>
                      </a:srgbClr>
                    </a:gs>
                    <a:gs pos="51000">
                      <a:schemeClr val="bg1"/>
                    </a:gs>
                  </a:gsLst>
                  <a:lin ang="5400000" scaled="1"/>
                </a:gradFill>
              </a:ln>
              <a:noFill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 rot="0">
            <a:off x="8253095" y="2432685"/>
            <a:ext cx="3560445" cy="766445"/>
            <a:chOff x="1279" y="3137"/>
            <a:chExt cx="5607" cy="1299"/>
          </a:xfrm>
        </p:grpSpPr>
        <p:sp>
          <p:nvSpPr>
            <p:cNvPr id="19" name="平行四边形 18"/>
            <p:cNvSpPr/>
            <p:nvPr>
              <p:custDataLst>
                <p:tags r:id="rId11"/>
              </p:custDataLst>
            </p:nvPr>
          </p:nvSpPr>
          <p:spPr>
            <a:xfrm rot="10800000">
              <a:off x="1635" y="3137"/>
              <a:ext cx="5251" cy="1109"/>
            </a:xfrm>
            <a:prstGeom prst="parallelogram">
              <a:avLst>
                <a:gd name="adj" fmla="val 68862"/>
              </a:avLst>
            </a:prstGeom>
            <a:noFill/>
            <a:ln w="25400">
              <a:gradFill flip="none" rotWithShape="1">
                <a:gsLst>
                  <a:gs pos="200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20" name="平行四边形 19"/>
            <p:cNvSpPr/>
            <p:nvPr>
              <p:custDataLst>
                <p:tags r:id="rId12"/>
              </p:custDataLst>
            </p:nvPr>
          </p:nvSpPr>
          <p:spPr>
            <a:xfrm rot="10800000">
              <a:off x="1279" y="3310"/>
              <a:ext cx="5242" cy="1126"/>
            </a:xfrm>
            <a:prstGeom prst="parallelogram">
              <a:avLst>
                <a:gd name="adj" fmla="val 68862"/>
              </a:avLst>
            </a:prstGeom>
            <a:noFill/>
            <a:ln w="25400">
              <a:gradFill>
                <a:gsLst>
                  <a:gs pos="2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 flipH="1">
            <a:off x="8867775" y="2571115"/>
            <a:ext cx="24936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Proposed  Method</a:t>
            </a:r>
            <a:endParaRPr lang="en-US" altLang="zh-CN" sz="2800" i="1">
              <a:ln>
                <a:noFill/>
              </a:ln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 flipH="1">
            <a:off x="1054735" y="3980180"/>
            <a:ext cx="2493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04</a:t>
            </a:r>
            <a:endParaRPr lang="en-US" altLang="zh-CN" sz="8000" i="1" dirty="0">
              <a:ln>
                <a:gradFill>
                  <a:gsLst>
                    <a:gs pos="0">
                      <a:schemeClr val="bg1"/>
                    </a:gs>
                    <a:gs pos="56000">
                      <a:srgbClr val="FFFFFF">
                        <a:alpha val="0"/>
                      </a:srgbClr>
                    </a:gs>
                    <a:gs pos="51000">
                      <a:schemeClr val="bg1"/>
                    </a:gs>
                  </a:gsLst>
                  <a:lin ang="5400000" scaled="1"/>
                </a:gradFill>
              </a:ln>
              <a:noFill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 rot="0">
            <a:off x="377825" y="4705985"/>
            <a:ext cx="3560445" cy="766445"/>
            <a:chOff x="1279" y="3137"/>
            <a:chExt cx="5607" cy="1299"/>
          </a:xfrm>
        </p:grpSpPr>
        <p:sp>
          <p:nvSpPr>
            <p:cNvPr id="25" name="平行四边形 24"/>
            <p:cNvSpPr/>
            <p:nvPr>
              <p:custDataLst>
                <p:tags r:id="rId14"/>
              </p:custDataLst>
            </p:nvPr>
          </p:nvSpPr>
          <p:spPr>
            <a:xfrm rot="10800000">
              <a:off x="1635" y="3137"/>
              <a:ext cx="5251" cy="1109"/>
            </a:xfrm>
            <a:prstGeom prst="parallelogram">
              <a:avLst>
                <a:gd name="adj" fmla="val 68862"/>
              </a:avLst>
            </a:prstGeom>
            <a:noFill/>
            <a:ln w="25400">
              <a:gradFill flip="none" rotWithShape="1">
                <a:gsLst>
                  <a:gs pos="200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15"/>
              </p:custDataLst>
            </p:nvPr>
          </p:nvSpPr>
          <p:spPr>
            <a:xfrm rot="10800000">
              <a:off x="1279" y="3310"/>
              <a:ext cx="5242" cy="1126"/>
            </a:xfrm>
            <a:prstGeom prst="parallelogram">
              <a:avLst>
                <a:gd name="adj" fmla="val 68862"/>
              </a:avLst>
            </a:prstGeom>
            <a:noFill/>
            <a:ln w="25400">
              <a:gradFill>
                <a:gsLst>
                  <a:gs pos="2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 flipH="1">
            <a:off x="992505" y="4844415"/>
            <a:ext cx="2493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Experiment</a:t>
            </a:r>
            <a:endParaRPr lang="en-US" altLang="zh-CN" sz="2800" i="1">
              <a:ln>
                <a:noFill/>
              </a:ln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16"/>
            </p:custDataLst>
          </p:nvPr>
        </p:nvSpPr>
        <p:spPr>
          <a:xfrm flipH="1">
            <a:off x="4992370" y="3980180"/>
            <a:ext cx="2493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05</a:t>
            </a:r>
            <a:endParaRPr lang="en-US" altLang="zh-CN" sz="8000" i="1" dirty="0">
              <a:ln>
                <a:gradFill>
                  <a:gsLst>
                    <a:gs pos="0">
                      <a:schemeClr val="bg1"/>
                    </a:gs>
                    <a:gs pos="56000">
                      <a:srgbClr val="FFFFFF">
                        <a:alpha val="0"/>
                      </a:srgbClr>
                    </a:gs>
                    <a:gs pos="51000">
                      <a:schemeClr val="bg1"/>
                    </a:gs>
                  </a:gsLst>
                  <a:lin ang="5400000" scaled="1"/>
                </a:gradFill>
              </a:ln>
              <a:noFill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 rot="0">
            <a:off x="4315460" y="4705985"/>
            <a:ext cx="3560445" cy="766445"/>
            <a:chOff x="1279" y="3137"/>
            <a:chExt cx="5607" cy="1299"/>
          </a:xfrm>
        </p:grpSpPr>
        <p:sp>
          <p:nvSpPr>
            <p:cNvPr id="31" name="平行四边形 30"/>
            <p:cNvSpPr/>
            <p:nvPr>
              <p:custDataLst>
                <p:tags r:id="rId17"/>
              </p:custDataLst>
            </p:nvPr>
          </p:nvSpPr>
          <p:spPr>
            <a:xfrm rot="10800000">
              <a:off x="1635" y="3137"/>
              <a:ext cx="5251" cy="1109"/>
            </a:xfrm>
            <a:prstGeom prst="parallelogram">
              <a:avLst>
                <a:gd name="adj" fmla="val 68862"/>
              </a:avLst>
            </a:prstGeom>
            <a:noFill/>
            <a:ln w="25400">
              <a:gradFill flip="none" rotWithShape="1">
                <a:gsLst>
                  <a:gs pos="200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32" name="平行四边形 31"/>
            <p:cNvSpPr/>
            <p:nvPr>
              <p:custDataLst>
                <p:tags r:id="rId18"/>
              </p:custDataLst>
            </p:nvPr>
          </p:nvSpPr>
          <p:spPr>
            <a:xfrm rot="10800000">
              <a:off x="1279" y="3310"/>
              <a:ext cx="5242" cy="1126"/>
            </a:xfrm>
            <a:prstGeom prst="parallelogram">
              <a:avLst>
                <a:gd name="adj" fmla="val 68862"/>
              </a:avLst>
            </a:prstGeom>
            <a:noFill/>
            <a:ln w="25400">
              <a:gradFill>
                <a:gsLst>
                  <a:gs pos="2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 flipH="1">
            <a:off x="4930140" y="4844415"/>
            <a:ext cx="2493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Conclusion</a:t>
            </a:r>
            <a:endParaRPr lang="en-US" altLang="zh-CN" sz="2800" i="1">
              <a:ln>
                <a:noFill/>
              </a:ln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8890" y="0"/>
            <a:ext cx="12183110" cy="6858000"/>
          </a:xfrm>
          <a:prstGeom prst="rect">
            <a:avLst/>
          </a:prstGeom>
        </p:spPr>
      </p:pic>
      <p:sp>
        <p:nvSpPr>
          <p:cNvPr id="55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25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16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21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64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63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65" name="文本框 64"/>
              <p:cNvSpPr txBox="1"/>
              <p:nvPr/>
            </p:nvSpPr>
            <p:spPr>
              <a:xfrm flipH="1">
                <a:off x="6784" y="4535"/>
                <a:ext cx="9291" cy="1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5600" i="1" cap="all" dirty="0">
                    <a:solidFill>
                      <a:schemeClr val="bg2"/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Introduction</a:t>
                </a:r>
                <a:endParaRPr lang="en-US" altLang="zh-CN" sz="56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3674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01</a:t>
                </a:r>
                <a:endParaRPr lang="en-US" altLang="zh-CN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3" name="文本框 2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237" y="6007"/>
                <a:ext cx="4478" cy="33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dist"/>
                <a:r>
                  <a:rPr lang="en-US" sz="800" i="1" cap="all">
                    <a:ln>
                      <a:noFill/>
                    </a:ln>
                    <a:solidFill>
                      <a:schemeClr val="bg1">
                        <a:alpha val="50000"/>
                      </a:schemeClr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an overvview  of the problem</a:t>
                </a:r>
                <a:endParaRPr lang="en-US" sz="800" i="1" cap="all">
                  <a:ln>
                    <a:noFill/>
                  </a:ln>
                  <a:solidFill>
                    <a:schemeClr val="bg1">
                      <a:alpha val="50000"/>
                    </a:schemeClr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</p:txBody>
          </p:sp>
        </p:grpSp>
      </p:grp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-5969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The </a:t>
            </a:r>
            <a:r>
              <a:rPr lang="vi-VN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quote</a:t>
            </a:r>
            <a:endParaRPr lang="vi-VN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52" name="TextBox 25"/>
          <p:cNvSpPr txBox="1"/>
          <p:nvPr/>
        </p:nvSpPr>
        <p:spPr>
          <a:xfrm>
            <a:off x="4494530" y="4150995"/>
            <a:ext cx="2614295" cy="5067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W. Edwards Deming</a:t>
            </a:r>
            <a:r>
              <a:rPr dirty="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</a:t>
            </a:r>
            <a:endParaRPr dirty="0">
              <a:solidFill>
                <a:schemeClr val="accent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69" name="TextBox 25"/>
          <p:cNvSpPr txBox="1"/>
          <p:nvPr/>
        </p:nvSpPr>
        <p:spPr>
          <a:xfrm>
            <a:off x="2340610" y="2157730"/>
            <a:ext cx="7200900" cy="19056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p>
            <a:pPr algn="ctr">
              <a:lnSpc>
                <a:spcPct val="150000"/>
              </a:lnSpc>
            </a:pPr>
            <a:r>
              <a:rPr lang="en-US" sz="4000" dirty="0">
                <a:solidFill>
                  <a:schemeClr val="bg2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In God we trust.</a:t>
            </a:r>
            <a:endParaRPr lang="en-US" sz="4000" dirty="0">
              <a:solidFill>
                <a:schemeClr val="bg2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  <a:p>
            <a:pPr algn="ctr">
              <a:lnSpc>
                <a:spcPct val="150000"/>
              </a:lnSpc>
            </a:pPr>
            <a:r>
              <a:rPr lang="en-US" sz="4000" dirty="0">
                <a:solidFill>
                  <a:schemeClr val="bg2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All other must bring data</a:t>
            </a:r>
            <a:endParaRPr lang="en-US" sz="4000" dirty="0">
              <a:solidFill>
                <a:schemeClr val="bg2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50" name="Oval 12"/>
          <p:cNvSpPr/>
          <p:nvPr/>
        </p:nvSpPr>
        <p:spPr>
          <a:xfrm>
            <a:off x="7953375" y="3095625"/>
            <a:ext cx="2937510" cy="1320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2800" b="1">
                <a:cs typeface="Inter" panose="02000503000000020004" charset="0"/>
              </a:rPr>
              <a:t>Authentic Data</a:t>
            </a:r>
            <a:endParaRPr lang="vi-VN" altLang="en-US" sz="2800" b="1">
              <a:cs typeface="Inter" panose="02000503000000020004" charset="0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145223" y="3265171"/>
            <a:ext cx="8469630" cy="2848610"/>
            <a:chOff x="1655" y="4057"/>
            <a:chExt cx="13338" cy="4486"/>
          </a:xfrm>
        </p:grpSpPr>
        <p:sp>
          <p:nvSpPr>
            <p:cNvPr id="9" name="矩形 47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655" y="4193"/>
              <a:ext cx="3112" cy="58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 compatLnSpc="0">
              <a:spAutoFit/>
            </a:bodyPr>
            <a:p>
              <a:pPr lvl="0" algn="l">
                <a:lnSpc>
                  <a:spcPct val="15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endParaRPr 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4"/>
              </p:custDataLst>
            </p:nvPr>
          </p:nvSpPr>
          <p:spPr>
            <a:xfrm>
              <a:off x="2123" y="4057"/>
              <a:ext cx="1287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vi-VN" sz="2000">
                  <a:solidFill>
                    <a:schemeClr val="accent6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  <a:sym typeface="+mn-ea"/>
                </a:rPr>
                <a:t>Input: Nội dung trong bình luận</a:t>
              </a:r>
              <a:endParaRPr lang="en-US" altLang="vi-VN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5"/>
              </p:custDataLst>
            </p:nvPr>
          </p:nvSpPr>
          <p:spPr>
            <a:xfrm>
              <a:off x="2123" y="5976"/>
              <a:ext cx="2860" cy="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endParaRPr lang="en-US" altLang="zh-CN" sz="10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6"/>
              </p:custDataLst>
            </p:nvPr>
          </p:nvSpPr>
          <p:spPr>
            <a:xfrm>
              <a:off x="2123" y="5454"/>
              <a:ext cx="1016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vi-VN" sz="2000">
                  <a:solidFill>
                    <a:schemeClr val="accent1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  <a:sym typeface="+mn-ea"/>
                </a:rPr>
                <a:t>Output: Đánh giá có phải là seeding hoặc không</a:t>
              </a:r>
              <a:endParaRPr lang="vi-VN" altLang="zh-CN" sz="200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7"/>
              </p:custDataLst>
            </p:nvPr>
          </p:nvSpPr>
          <p:spPr>
            <a:xfrm>
              <a:off x="5928" y="5976"/>
              <a:ext cx="2860" cy="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endParaRPr lang="en-US" altLang="zh-CN" sz="1000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endParaRPr>
            </a:p>
          </p:txBody>
        </p:sp>
      </p:grpSp>
      <p:sp>
        <p:nvSpPr>
          <p:cNvPr id="29" name="Rounded Rectangular Callout 28"/>
          <p:cNvSpPr/>
          <p:nvPr/>
        </p:nvSpPr>
        <p:spPr>
          <a:xfrm>
            <a:off x="915035" y="1447165"/>
            <a:ext cx="914400" cy="611505"/>
          </a:xfrm>
          <a:prstGeom prst="wedgeRoundRect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Rounded Rectangular Callout 29"/>
          <p:cNvSpPr/>
          <p:nvPr/>
        </p:nvSpPr>
        <p:spPr>
          <a:xfrm>
            <a:off x="1042035" y="1574165"/>
            <a:ext cx="914400" cy="611505"/>
          </a:xfrm>
          <a:prstGeom prst="wedgeRoundRect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Rounded Rectangular Callout 30"/>
          <p:cNvSpPr/>
          <p:nvPr/>
        </p:nvSpPr>
        <p:spPr>
          <a:xfrm>
            <a:off x="1169035" y="1701165"/>
            <a:ext cx="914400" cy="611505"/>
          </a:xfrm>
          <a:prstGeom prst="wedgeRoundRect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Text</a:t>
            </a:r>
            <a:endParaRPr lang="vi-VN" altLang="en-US"/>
          </a:p>
        </p:txBody>
      </p:sp>
      <p:sp>
        <p:nvSpPr>
          <p:cNvPr id="32" name="Rectangles 31"/>
          <p:cNvSpPr/>
          <p:nvPr/>
        </p:nvSpPr>
        <p:spPr>
          <a:xfrm>
            <a:off x="3434715" y="1549400"/>
            <a:ext cx="1447800" cy="914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Encoding</a:t>
            </a:r>
            <a:endParaRPr lang="vi-VN" altLang="en-US"/>
          </a:p>
        </p:txBody>
      </p:sp>
      <p:cxnSp>
        <p:nvCxnSpPr>
          <p:cNvPr id="33" name="Straight Arrow Connector 32"/>
          <p:cNvCxnSpPr>
            <a:stCxn id="31" idx="3"/>
            <a:endCxn id="32" idx="1"/>
          </p:cNvCxnSpPr>
          <p:nvPr/>
        </p:nvCxnSpPr>
        <p:spPr>
          <a:xfrm flipV="1">
            <a:off x="2083435" y="2006600"/>
            <a:ext cx="1351280" cy="635"/>
          </a:xfrm>
          <a:prstGeom prst="straightConnector1">
            <a:avLst/>
          </a:prstGeom>
          <a:ln>
            <a:solidFill>
              <a:srgbClr val="FFC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487795" y="1549400"/>
            <a:ext cx="1499870" cy="9144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Classify</a:t>
            </a:r>
            <a:endParaRPr lang="vi-VN" altLang="en-US"/>
          </a:p>
        </p:txBody>
      </p:sp>
      <p:cxnSp>
        <p:nvCxnSpPr>
          <p:cNvPr id="35" name="Straight Arrow Connector 34"/>
          <p:cNvCxnSpPr>
            <a:stCxn id="32" idx="3"/>
            <a:endCxn id="34" idx="1"/>
          </p:cNvCxnSpPr>
          <p:nvPr/>
        </p:nvCxnSpPr>
        <p:spPr>
          <a:xfrm>
            <a:off x="4882515" y="2006600"/>
            <a:ext cx="1605280" cy="0"/>
          </a:xfrm>
          <a:prstGeom prst="straightConnector1">
            <a:avLst/>
          </a:prstGeom>
          <a:ln>
            <a:solidFill>
              <a:srgbClr val="FFC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Text Box 35"/>
          <p:cNvSpPr txBox="1"/>
          <p:nvPr/>
        </p:nvSpPr>
        <p:spPr>
          <a:xfrm>
            <a:off x="5215890" y="1701165"/>
            <a:ext cx="1012190" cy="48450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vi-VN" altLang="en-US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vectors</a:t>
            </a:r>
            <a:endParaRPr lang="vi-VN" altLang="en-US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9286875" y="1549400"/>
            <a:ext cx="1243330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Seeding or </a:t>
            </a:r>
            <a:r>
              <a:rPr lang="vi-VN" altLang="en-US"/>
              <a:t>Not</a:t>
            </a:r>
            <a:endParaRPr lang="vi-VN" altLang="en-US"/>
          </a:p>
        </p:txBody>
      </p:sp>
      <p:cxnSp>
        <p:nvCxnSpPr>
          <p:cNvPr id="38" name="Straight Arrow Connector 37"/>
          <p:cNvCxnSpPr>
            <a:stCxn id="34" idx="3"/>
            <a:endCxn id="37" idx="1"/>
          </p:cNvCxnSpPr>
          <p:nvPr/>
        </p:nvCxnSpPr>
        <p:spPr>
          <a:xfrm>
            <a:off x="7987665" y="2006600"/>
            <a:ext cx="1299210" cy="0"/>
          </a:xfrm>
          <a:prstGeom prst="straightConnector1">
            <a:avLst/>
          </a:prstGeom>
          <a:ln>
            <a:solidFill>
              <a:srgbClr val="FFC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平行四边形 18"/>
          <p:cNvSpPr/>
          <p:nvPr>
            <p:custDataLst>
              <p:tags r:id="rId1"/>
            </p:custDataLst>
          </p:nvPr>
        </p:nvSpPr>
        <p:spPr>
          <a:xfrm rot="10800000">
            <a:off x="652780" y="4919345"/>
            <a:ext cx="3701415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pic>
        <p:nvPicPr>
          <p:cNvPr id="103" name="图片 102" descr="VCG211292673800"/>
          <p:cNvPicPr>
            <a:picLocks noChangeAspect="1"/>
          </p:cNvPicPr>
          <p:nvPr/>
        </p:nvPicPr>
        <p:blipFill>
          <a:blip r:embed="rId3"/>
          <a:srcRect l="-174" t="7595" r="174" b="11821"/>
          <a:stretch>
            <a:fillRect/>
          </a:stretch>
        </p:blipFill>
        <p:spPr>
          <a:xfrm>
            <a:off x="4827905" y="2712720"/>
            <a:ext cx="6571615" cy="2978150"/>
          </a:xfrm>
          <a:prstGeom prst="rect">
            <a:avLst/>
          </a:prstGeom>
        </p:spPr>
      </p:pic>
      <p:sp>
        <p:nvSpPr>
          <p:cNvPr id="98" name="Content Placeholder 2"/>
          <p:cNvSpPr/>
          <p:nvPr/>
        </p:nvSpPr>
        <p:spPr>
          <a:xfrm>
            <a:off x="1816100" y="5043805"/>
            <a:ext cx="2192020" cy="575310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vi-VN" altLang="en-US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</a:t>
            </a:r>
            <a:r>
              <a:rPr lang="vi-VN" altLang="en-US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Phát triển  E-commerce</a:t>
            </a:r>
            <a:r>
              <a:rPr lang="en-US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.</a:t>
            </a:r>
            <a:endParaRPr lang="en-US" sz="12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102" name="图片 101" descr="343439383331313b343532303031393bd2b5bca8b9dcc0ed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6985" y="5188585"/>
            <a:ext cx="286385" cy="28638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6"/>
            </p:custDataLst>
          </p:nvPr>
        </p:nvSpPr>
        <p:spPr>
          <a:xfrm rot="10800000">
            <a:off x="652780" y="1629410"/>
            <a:ext cx="3701415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95" name="Content Placeholder 2"/>
          <p:cNvSpPr/>
          <p:nvPr/>
        </p:nvSpPr>
        <p:spPr>
          <a:xfrm>
            <a:off x="1773555" y="1779905"/>
            <a:ext cx="2192020" cy="575310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algn="l" fontAlgn="auto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vi-VN" altLang="en-US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Mở ra kỷ ngu</a:t>
            </a:r>
            <a:r>
              <a:rPr lang="vi-VN" altLang="en-US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yên số</a:t>
            </a:r>
            <a:r>
              <a:rPr lang="en-US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.</a:t>
            </a:r>
            <a:endParaRPr lang="en-US" sz="12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99" name="图片 98" descr="343439383331313b343532303033313bd3a6d3c3c9ccb3c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8095" y="2985770"/>
            <a:ext cx="294005" cy="294005"/>
          </a:xfrm>
          <a:prstGeom prst="rect">
            <a:avLst/>
          </a:prstGeom>
        </p:spPr>
      </p:pic>
      <p:sp>
        <p:nvSpPr>
          <p:cNvPr id="16" name="平行四边形 15"/>
          <p:cNvSpPr/>
          <p:nvPr>
            <p:custDataLst>
              <p:tags r:id="rId9"/>
            </p:custDataLst>
          </p:nvPr>
        </p:nvSpPr>
        <p:spPr>
          <a:xfrm rot="10800000">
            <a:off x="652780" y="2726055"/>
            <a:ext cx="3701415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96" name="Content Placeholder 2"/>
          <p:cNvSpPr/>
          <p:nvPr/>
        </p:nvSpPr>
        <p:spPr>
          <a:xfrm>
            <a:off x="1784350" y="2882265"/>
            <a:ext cx="2192020" cy="575310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vi-VN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Thay </a:t>
            </a:r>
            <a:r>
              <a:rPr lang="en-US" altLang="en-US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đ</a:t>
            </a:r>
            <a:r>
              <a:rPr lang="en-US" altLang="en-US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ổi cách kết nối và tiêu thụ thông tin</a:t>
            </a:r>
            <a:r>
              <a:rPr lang="vi-VN" altLang="en-US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</a:t>
            </a:r>
            <a:endParaRPr lang="vi-VN" altLang="en-US" sz="12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100" name="图片 99" descr="343439383331313b343532303032343bb7a2b2bcb9dcc0ed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49680" y="1882140"/>
            <a:ext cx="353695" cy="353695"/>
          </a:xfrm>
          <a:prstGeom prst="rect">
            <a:avLst/>
          </a:prstGeom>
        </p:spPr>
      </p:pic>
      <p:sp>
        <p:nvSpPr>
          <p:cNvPr id="18" name="平行四边形 17"/>
          <p:cNvSpPr/>
          <p:nvPr>
            <p:custDataLst>
              <p:tags r:id="rId12"/>
            </p:custDataLst>
          </p:nvPr>
        </p:nvSpPr>
        <p:spPr>
          <a:xfrm rot="10800000">
            <a:off x="652780" y="3822700"/>
            <a:ext cx="3701415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97" name="Content Placeholder 2"/>
          <p:cNvSpPr/>
          <p:nvPr/>
        </p:nvSpPr>
        <p:spPr>
          <a:xfrm>
            <a:off x="1819275" y="3946525"/>
            <a:ext cx="2192020" cy="575310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vi-VN" altLang="en-US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Tiêp </a:t>
            </a:r>
            <a:r>
              <a:rPr lang="en-US" altLang="en-US"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cận nội dung mọi lúc mọi nơi.</a:t>
            </a:r>
            <a:endParaRPr lang="en-US" altLang="en-US" sz="12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101" name="图片 100" descr="343439383331313b343532303032333bc6f3d2b5bcf2bde9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8095" y="4081780"/>
            <a:ext cx="304800" cy="3048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15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Problem </a:t>
            </a:r>
            <a:r>
              <a:rPr lang="vi-VN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Overview</a:t>
            </a:r>
            <a:endParaRPr lang="vi-VN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91" name="TextBox 16"/>
          <p:cNvSpPr txBox="1"/>
          <p:nvPr/>
        </p:nvSpPr>
        <p:spPr>
          <a:xfrm>
            <a:off x="5912168" y="1629410"/>
            <a:ext cx="44030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zh-CN" sz="2000" spc="100" dirty="0">
                <a:solidFill>
                  <a:schemeClr val="accent1"/>
                </a:solidFill>
                <a:uFillTx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Internet era</a:t>
            </a:r>
            <a:r>
              <a:rPr lang="zh-CN" altLang="en-US" sz="2000" spc="100" dirty="0">
                <a:solidFill>
                  <a:schemeClr val="accent1"/>
                </a:solidFill>
                <a:uFillTx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</a:t>
            </a:r>
            <a:endParaRPr lang="zh-CN" altLang="en-US" sz="2000" spc="100" dirty="0">
              <a:solidFill>
                <a:schemeClr val="accent1"/>
              </a:solidFill>
              <a:uFillTx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93" name="Rectangle 17"/>
          <p:cNvSpPr/>
          <p:nvPr/>
        </p:nvSpPr>
        <p:spPr>
          <a:xfrm>
            <a:off x="5912485" y="2040890"/>
            <a:ext cx="4402455" cy="570865"/>
          </a:xfrm>
          <a:prstGeom prst="rect">
            <a:avLst/>
          </a:prstGeom>
        </p:spPr>
        <p:txBody>
          <a:bodyPr wrap="square">
            <a:spAutoFit/>
          </a:bodyPr>
          <a:p>
            <a:pPr algn="ctr" fontAlgn="auto">
              <a:lnSpc>
                <a:spcPct val="130000"/>
              </a:lnSpc>
              <a:spcAft>
                <a:spcPts val="1000"/>
              </a:spcAft>
            </a:pPr>
            <a:r>
              <a:rPr sz="12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Presentations are communication tools that can be used as demonstrations.</a:t>
            </a:r>
            <a:endParaRPr sz="12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29" name="平行四边形 28"/>
          <p:cNvSpPr/>
          <p:nvPr>
            <p:custDataLst>
              <p:tags r:id="rId16"/>
            </p:custDataLst>
          </p:nvPr>
        </p:nvSpPr>
        <p:spPr>
          <a:xfrm rot="10800000" flipH="1">
            <a:off x="6444298" y="1543685"/>
            <a:ext cx="3338830" cy="509905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17"/>
          <a:stretch>
            <a:fillRect/>
          </a:stretch>
        </p:blipFill>
        <p:spPr>
          <a:xfrm>
            <a:off x="4827905" y="2146300"/>
            <a:ext cx="6572250" cy="363855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1280" y="-29972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Problem </a:t>
            </a:r>
            <a:r>
              <a:rPr lang="vi-VN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overview</a:t>
            </a:r>
            <a:endParaRPr lang="vi-VN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cxnSp>
        <p:nvCxnSpPr>
          <p:cNvPr id="44" name="Straight Connector 21"/>
          <p:cNvCxnSpPr/>
          <p:nvPr/>
        </p:nvCxnSpPr>
        <p:spPr>
          <a:xfrm flipV="1">
            <a:off x="1537970" y="1402080"/>
            <a:ext cx="52705" cy="451866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25"/>
          <p:cNvSpPr txBox="1"/>
          <p:nvPr/>
        </p:nvSpPr>
        <p:spPr>
          <a:xfrm>
            <a:off x="1590675" y="2369820"/>
            <a:ext cx="7031355" cy="5067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p>
            <a:pPr algn="ctr">
              <a:lnSpc>
                <a:spcPct val="150000"/>
              </a:lnSpc>
            </a:pPr>
            <a:r>
              <a:rPr lang="vi-VN" dirty="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82% người dùng</a:t>
            </a:r>
            <a:r>
              <a:rPr dirty="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 </a:t>
            </a:r>
            <a:r>
              <a:rPr lang="vi-VN" dirty="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 đã đọc nội dung seeding </a:t>
            </a:r>
            <a:endParaRPr lang="vi-VN" dirty="0">
              <a:solidFill>
                <a:schemeClr val="accent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47" name="Oval 9"/>
          <p:cNvSpPr/>
          <p:nvPr/>
        </p:nvSpPr>
        <p:spPr>
          <a:xfrm>
            <a:off x="2012315" y="1635125"/>
            <a:ext cx="273685" cy="2736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Inter" panose="02000503000000020004" charset="0"/>
            </a:endParaRPr>
          </a:p>
        </p:txBody>
      </p:sp>
      <p:sp>
        <p:nvSpPr>
          <p:cNvPr id="48" name="Oval 10"/>
          <p:cNvSpPr/>
          <p:nvPr/>
        </p:nvSpPr>
        <p:spPr>
          <a:xfrm>
            <a:off x="2012315" y="2506980"/>
            <a:ext cx="273685" cy="2736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Inter" panose="02000503000000020004" charset="0"/>
            </a:endParaRPr>
          </a:p>
        </p:txBody>
      </p:sp>
      <p:sp>
        <p:nvSpPr>
          <p:cNvPr id="49" name="Oval 11"/>
          <p:cNvSpPr/>
          <p:nvPr/>
        </p:nvSpPr>
        <p:spPr>
          <a:xfrm>
            <a:off x="2012315" y="3558540"/>
            <a:ext cx="273685" cy="27368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Inter" panose="02000503000000020004" charset="0"/>
            </a:endParaRPr>
          </a:p>
        </p:txBody>
      </p:sp>
      <p:sp>
        <p:nvSpPr>
          <p:cNvPr id="50" name="Oval 12"/>
          <p:cNvSpPr/>
          <p:nvPr/>
        </p:nvSpPr>
        <p:spPr>
          <a:xfrm>
            <a:off x="2012315" y="4514215"/>
            <a:ext cx="273685" cy="27368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Inter" panose="02000503000000020004" charset="0"/>
            </a:endParaRPr>
          </a:p>
        </p:txBody>
      </p:sp>
      <p:sp>
        <p:nvSpPr>
          <p:cNvPr id="52" name="TextBox 25"/>
          <p:cNvSpPr txBox="1"/>
          <p:nvPr/>
        </p:nvSpPr>
        <p:spPr>
          <a:xfrm>
            <a:off x="2570480" y="1508125"/>
            <a:ext cx="3645535" cy="5067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p>
            <a:pPr algn="ctr">
              <a:lnSpc>
                <a:spcPct val="150000"/>
              </a:lnSpc>
            </a:pPr>
            <a:r>
              <a:rPr lang="en-US" altLang="en-US" dirty="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16-50%</a:t>
            </a:r>
            <a:r>
              <a:rPr lang="vi-VN" altLang="en-US" dirty="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nội dung bị thao túng</a:t>
            </a:r>
            <a:r>
              <a:rPr dirty="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</a:t>
            </a:r>
            <a:endParaRPr dirty="0">
              <a:solidFill>
                <a:schemeClr val="accent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54" name="TextBox 25"/>
          <p:cNvSpPr txBox="1"/>
          <p:nvPr/>
        </p:nvSpPr>
        <p:spPr>
          <a:xfrm>
            <a:off x="2570480" y="3359150"/>
            <a:ext cx="4411345" cy="9220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p>
            <a:pPr algn="ctr">
              <a:lnSpc>
                <a:spcPct val="150000"/>
              </a:lnSpc>
            </a:pPr>
            <a:r>
              <a:rPr lang="en-US" altLang="en-US" dirty="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30% of online reviews</a:t>
            </a:r>
            <a:r>
              <a:rPr lang="vi-VN" altLang="en-US" dirty="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là </a:t>
            </a:r>
            <a:r>
              <a:rPr lang="en-US" altLang="vi-VN" dirty="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seeding</a:t>
            </a:r>
            <a:r>
              <a:rPr lang="vi-VN" altLang="en-US" dirty="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review</a:t>
            </a:r>
            <a:r>
              <a:rPr lang="en-US" altLang="en-US" dirty="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</a:t>
            </a:r>
            <a:r>
              <a:rPr lang="en-US" dirty="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</a:t>
            </a:r>
            <a:endParaRPr lang="en-US" dirty="0">
              <a:solidFill>
                <a:schemeClr val="accent6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56" name="TextBox 25"/>
          <p:cNvSpPr txBox="1"/>
          <p:nvPr/>
        </p:nvSpPr>
        <p:spPr>
          <a:xfrm>
            <a:off x="2496185" y="4377055"/>
            <a:ext cx="5928360" cy="5067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p>
            <a:pPr algn="ctr">
              <a:lnSpc>
                <a:spcPct val="150000"/>
              </a:lnSpc>
            </a:pPr>
            <a:r>
              <a:rPr lang="en-US" altLang="en-US" dirty="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74%</a:t>
            </a:r>
            <a:r>
              <a:rPr lang="vi-VN" altLang="en-US" dirty="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người dùng không thể phân biệt thật hay </a:t>
            </a:r>
            <a:r>
              <a:rPr lang="vi-VN" altLang="en-US" dirty="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giả</a:t>
            </a:r>
            <a:endParaRPr lang="vi-VN" altLang="en-US" dirty="0">
              <a:solidFill>
                <a:schemeClr val="accent6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cxnSp>
        <p:nvCxnSpPr>
          <p:cNvPr id="62" name="Straight Connector 35"/>
          <p:cNvCxnSpPr/>
          <p:nvPr/>
        </p:nvCxnSpPr>
        <p:spPr>
          <a:xfrm>
            <a:off x="9463405" y="2388235"/>
            <a:ext cx="0" cy="1817370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055" y="956945"/>
            <a:ext cx="2066925" cy="46672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8803958" y="2166938"/>
            <a:ext cx="2143125" cy="21431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37" name="椭圆 36"/>
          <p:cNvSpPr/>
          <p:nvPr/>
        </p:nvSpPr>
        <p:spPr>
          <a:xfrm rot="1020000">
            <a:off x="4249420" y="1750060"/>
            <a:ext cx="3622040" cy="3622040"/>
          </a:xfrm>
          <a:prstGeom prst="ellipse">
            <a:avLst/>
          </a:prstGeom>
          <a:noFill/>
          <a:ln w="95250">
            <a:gradFill>
              <a:gsLst>
                <a:gs pos="73000">
                  <a:schemeClr val="accent6">
                    <a:alpha val="0"/>
                  </a:schemeClr>
                </a:gs>
                <a:gs pos="35000">
                  <a:schemeClr val="accent1"/>
                </a:gs>
                <a:gs pos="100000">
                  <a:schemeClr val="accent1"/>
                </a:gs>
                <a:gs pos="1000">
                  <a:schemeClr val="accent6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>
              <a:cs typeface="Inter Black" panose="02000503000000020004" charset="0"/>
            </a:endParaRPr>
          </a:p>
        </p:txBody>
      </p:sp>
      <p:sp>
        <p:nvSpPr>
          <p:cNvPr id="38" name="椭圆 37"/>
          <p:cNvSpPr/>
          <p:nvPr/>
        </p:nvSpPr>
        <p:spPr>
          <a:xfrm rot="10800000">
            <a:off x="4471035" y="1973580"/>
            <a:ext cx="3175000" cy="3175000"/>
          </a:xfrm>
          <a:prstGeom prst="ellipse">
            <a:avLst/>
          </a:prstGeom>
          <a:noFill/>
          <a:ln w="76200">
            <a:gradFill>
              <a:gsLst>
                <a:gs pos="39000">
                  <a:schemeClr val="accent1"/>
                </a:gs>
                <a:gs pos="0">
                  <a:schemeClr val="accent6">
                    <a:alpha val="0"/>
                  </a:schemeClr>
                </a:gs>
                <a:gs pos="100000">
                  <a:schemeClr val="accent1"/>
                </a:gs>
                <a:gs pos="72000">
                  <a:schemeClr val="accent6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>
              <a:cs typeface="Inter Black" panose="02000503000000020004" charset="0"/>
            </a:endParaRPr>
          </a:p>
        </p:txBody>
      </p:sp>
      <p:grpSp>
        <p:nvGrpSpPr>
          <p:cNvPr id="36" name="组合 35"/>
          <p:cNvGrpSpPr/>
          <p:nvPr/>
        </p:nvGrpSpPr>
        <p:grpSpPr>
          <a:xfrm rot="0">
            <a:off x="4625340" y="2202815"/>
            <a:ext cx="2805430" cy="2716530"/>
            <a:chOff x="3907790" y="2007432"/>
            <a:chExt cx="3854131" cy="3627565"/>
          </a:xfrm>
        </p:grpSpPr>
        <p:sp>
          <p:nvSpPr>
            <p:cNvPr id="46" name="2"/>
            <p:cNvSpPr/>
            <p:nvPr/>
          </p:nvSpPr>
          <p:spPr>
            <a:xfrm flipH="1" flipV="1">
              <a:off x="3984739" y="2007432"/>
              <a:ext cx="3777182" cy="3627565"/>
            </a:xfrm>
            <a:prstGeom prst="blockArc">
              <a:avLst>
                <a:gd name="adj1" fmla="val 34484"/>
                <a:gd name="adj2" fmla="val 10794548"/>
                <a:gd name="adj3" fmla="val 922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3000">
                  <a:schemeClr val="accent3">
                    <a:lumMod val="40000"/>
                    <a:lumOff val="60000"/>
                  </a:schemeClr>
                </a:gs>
                <a:gs pos="85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  <a:endParaRPr>
                <a:ea typeface="Inter Black" panose="02000503000000020004" charset="0"/>
                <a:cs typeface="Inter Black" panose="02000503000000020004" charset="0"/>
                <a:sym typeface="+mn-lt"/>
              </a:endParaRPr>
            </a:p>
          </p:txBody>
        </p:sp>
        <p:sp>
          <p:nvSpPr>
            <p:cNvPr id="63" name="1"/>
            <p:cNvSpPr/>
            <p:nvPr/>
          </p:nvSpPr>
          <p:spPr>
            <a:xfrm flipH="1" flipV="1">
              <a:off x="3907790" y="3739621"/>
              <a:ext cx="197107" cy="16319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  <a:endParaRPr>
                <a:ea typeface="Inter Black" panose="02000503000000020004" charset="0"/>
                <a:cs typeface="Inter Black" panose="02000503000000020004" charset="0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4688840" y="2202815"/>
            <a:ext cx="2805430" cy="2716530"/>
            <a:chOff x="3907790" y="2007432"/>
            <a:chExt cx="3854130" cy="3627565"/>
          </a:xfr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53000">
                <a:schemeClr val="accent3">
                  <a:lumMod val="40000"/>
                  <a:lumOff val="60000"/>
                </a:schemeClr>
              </a:gs>
              <a:gs pos="26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</p:grpSpPr>
        <p:sp>
          <p:nvSpPr>
            <p:cNvPr id="49" name="2"/>
            <p:cNvSpPr/>
            <p:nvPr/>
          </p:nvSpPr>
          <p:spPr>
            <a:xfrm flipH="1" flipV="1">
              <a:off x="3984738" y="2007432"/>
              <a:ext cx="3777182" cy="3627565"/>
            </a:xfrm>
            <a:prstGeom prst="blockArc">
              <a:avLst>
                <a:gd name="adj1" fmla="val 34484"/>
                <a:gd name="adj2" fmla="val 10794548"/>
                <a:gd name="adj3" fmla="val 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  <a:endParaRPr>
                <a:ea typeface="Inter Black" panose="02000503000000020004" charset="0"/>
                <a:cs typeface="Inter Black" panose="02000503000000020004" charset="0"/>
                <a:sym typeface="+mn-lt"/>
              </a:endParaRPr>
            </a:p>
          </p:txBody>
        </p:sp>
        <p:sp>
          <p:nvSpPr>
            <p:cNvPr id="50" name="1"/>
            <p:cNvSpPr/>
            <p:nvPr/>
          </p:nvSpPr>
          <p:spPr>
            <a:xfrm flipH="1" flipV="1">
              <a:off x="3907790" y="3739621"/>
              <a:ext cx="197107" cy="16319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  <a:endParaRPr>
                <a:ea typeface="Inter Black" panose="02000503000000020004" charset="0"/>
                <a:cs typeface="Inter Black" panose="02000503000000020004" charset="0"/>
                <a:sym typeface="+mn-lt"/>
              </a:endParaRPr>
            </a:p>
          </p:txBody>
        </p:sp>
      </p:grpSp>
      <p:sp>
        <p:nvSpPr>
          <p:cNvPr id="27" name="Rectangles 26"/>
          <p:cNvSpPr/>
          <p:nvPr/>
        </p:nvSpPr>
        <p:spPr>
          <a:xfrm>
            <a:off x="5341620" y="146050"/>
            <a:ext cx="1641475" cy="9144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/>
              <a:t>Seeding</a:t>
            </a:r>
            <a:endParaRPr lang="en-US" b="1"/>
          </a:p>
        </p:txBody>
      </p:sp>
      <p:sp>
        <p:nvSpPr>
          <p:cNvPr id="28" name="Rectangles 27"/>
          <p:cNvSpPr/>
          <p:nvPr/>
        </p:nvSpPr>
        <p:spPr>
          <a:xfrm>
            <a:off x="9665970" y="2015490"/>
            <a:ext cx="2440305" cy="23907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b="1"/>
              <a:t>Nội dung hỏi – </a:t>
            </a:r>
            <a:r>
              <a:rPr lang="en-US" altLang="en-US" b="1"/>
              <a:t>đ</a:t>
            </a:r>
            <a:r>
              <a:rPr lang="en-US" altLang="en-US" b="1"/>
              <a:t>áp </a:t>
            </a:r>
            <a:endParaRPr lang="en-US" altLang="en-US" b="1"/>
          </a:p>
          <a:p>
            <a:pPr algn="ctr"/>
            <a:r>
              <a:rPr lang="en-US" altLang="en-US" b="1"/>
              <a:t>giả tạo</a:t>
            </a:r>
            <a:endParaRPr lang="en-US" altLang="en-US" b="1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/>
              <a:t>Kịch bản “ng</a:t>
            </a:r>
            <a:r>
              <a:rPr lang="en-US" altLang="en-US" sz="1600"/>
              <a:t>ư</a:t>
            </a:r>
            <a:r>
              <a:rPr lang="en-US" altLang="en-US" sz="1600"/>
              <a:t>ời hỏi thật – ng</a:t>
            </a:r>
            <a:r>
              <a:rPr lang="en-US" altLang="en-US" sz="1600"/>
              <a:t>ư</a:t>
            </a:r>
            <a:r>
              <a:rPr lang="en-US" altLang="en-US" sz="1600"/>
              <a:t>ời trả lời thật”</a:t>
            </a:r>
            <a:endParaRPr lang="en-US" altLang="en-U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/>
              <a:t>Quảng bá sản phẩm, dịch vụ</a:t>
            </a:r>
            <a:endParaRPr lang="en-US" altLang="en-US" sz="1600"/>
          </a:p>
          <a:p>
            <a:pPr algn="ctr"/>
            <a:endParaRPr lang="en-US" altLang="en-US" sz="1600"/>
          </a:p>
        </p:txBody>
      </p:sp>
      <p:sp>
        <p:nvSpPr>
          <p:cNvPr id="29" name="Rectangles 28"/>
          <p:cNvSpPr/>
          <p:nvPr/>
        </p:nvSpPr>
        <p:spPr>
          <a:xfrm>
            <a:off x="3215640" y="2030095"/>
            <a:ext cx="2446655" cy="23907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b="1"/>
              <a:t>Bình luận </a:t>
            </a:r>
            <a:r>
              <a:rPr lang="en-US" altLang="en-US" b="1"/>
              <a:t>đ</a:t>
            </a:r>
            <a:r>
              <a:rPr lang="en-US" altLang="en-US" b="1"/>
              <a:t>ịnh h</a:t>
            </a:r>
            <a:r>
              <a:rPr lang="en-US" altLang="en-US" b="1"/>
              <a:t>ư</a:t>
            </a:r>
            <a:r>
              <a:rPr lang="en-US" altLang="en-US" b="1"/>
              <a:t>ớng d</a:t>
            </a:r>
            <a:r>
              <a:rPr lang="en-US" altLang="en-US" b="1"/>
              <a:t>ư</a:t>
            </a:r>
            <a:r>
              <a:rPr lang="en-US" altLang="en-US" b="1"/>
              <a:t> luận</a:t>
            </a:r>
            <a:endParaRPr lang="en-US" altLang="en-US" b="1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/>
              <a:t>Củng cố quan </a:t>
            </a:r>
            <a:r>
              <a:rPr lang="en-US" altLang="en-US" sz="1600"/>
              <a:t>đ</a:t>
            </a:r>
            <a:r>
              <a:rPr lang="en-US" altLang="en-US" sz="1600"/>
              <a:t>iểm</a:t>
            </a:r>
            <a:endParaRPr lang="en-US" altLang="en-U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Phủ định thông tin</a:t>
            </a:r>
            <a:endParaRPr lang="en-US" altLang="en-US" sz="1600"/>
          </a:p>
        </p:txBody>
      </p:sp>
      <p:sp>
        <p:nvSpPr>
          <p:cNvPr id="30" name="Rectangles 29"/>
          <p:cNvSpPr/>
          <p:nvPr/>
        </p:nvSpPr>
        <p:spPr>
          <a:xfrm>
            <a:off x="75565" y="2030095"/>
            <a:ext cx="2329815" cy="23907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b="1"/>
              <a:t>Giả lập trải nghiệm </a:t>
            </a:r>
            <a:endParaRPr lang="en-US" altLang="en-US" b="1"/>
          </a:p>
          <a:p>
            <a:pPr algn="ctr"/>
            <a:r>
              <a:rPr lang="en-US" altLang="en-US" b="1"/>
              <a:t>cá nhân</a:t>
            </a:r>
            <a:endParaRPr lang="en-US" altLang="en-US" b="1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/>
              <a:t>Chia sẻ trải nghiệm </a:t>
            </a:r>
            <a:endParaRPr lang="en-US" altLang="en-U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/>
              <a:t>Kể chuyện thật</a:t>
            </a:r>
            <a:endParaRPr lang="en-US" altLang="en-U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/>
              <a:t>Review sản phẩm</a:t>
            </a:r>
            <a:endParaRPr lang="en-US" altLang="en-US" sz="1600"/>
          </a:p>
        </p:txBody>
      </p:sp>
      <p:cxnSp>
        <p:nvCxnSpPr>
          <p:cNvPr id="31" name="Elbow Connector 30"/>
          <p:cNvCxnSpPr>
            <a:endCxn id="30" idx="0"/>
          </p:cNvCxnSpPr>
          <p:nvPr/>
        </p:nvCxnSpPr>
        <p:spPr>
          <a:xfrm rot="10800000" flipV="1">
            <a:off x="1240790" y="1517650"/>
            <a:ext cx="4896485" cy="512445"/>
          </a:xfrm>
          <a:prstGeom prst="bentConnector2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endCxn id="28" idx="0"/>
          </p:cNvCxnSpPr>
          <p:nvPr/>
        </p:nvCxnSpPr>
        <p:spPr>
          <a:xfrm>
            <a:off x="5746115" y="1518285"/>
            <a:ext cx="5140325" cy="497205"/>
          </a:xfrm>
          <a:prstGeom prst="bentConnector2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Rectangles 32"/>
          <p:cNvSpPr/>
          <p:nvPr/>
        </p:nvSpPr>
        <p:spPr>
          <a:xfrm>
            <a:off x="6473190" y="2030095"/>
            <a:ext cx="2496185" cy="23907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b="1"/>
              <a:t>Seeding ẩn d</a:t>
            </a:r>
            <a:r>
              <a:rPr lang="en-US" altLang="en-US" b="1"/>
              <a:t>ư</a:t>
            </a:r>
            <a:r>
              <a:rPr lang="en-US" altLang="en-US" b="1"/>
              <a:t>ới hình thức t</a:t>
            </a:r>
            <a:r>
              <a:rPr lang="en-US" altLang="en-US" b="1"/>
              <a:t>ư</a:t>
            </a:r>
            <a:r>
              <a:rPr lang="en-US" altLang="en-US" b="1"/>
              <a:t>ơng tác tự nhiên</a:t>
            </a:r>
            <a:endParaRPr lang="en-US" altLang="en-US" b="1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Tạo ra tương tác </a:t>
            </a:r>
            <a:r>
              <a:rPr lang="en-US" altLang="en-US" sz="1600"/>
              <a:t>(like, share, tag, emoji)</a:t>
            </a:r>
            <a:endParaRPr lang="en-US" altLang="en-U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Tăng mức độ lan tỏa</a:t>
            </a:r>
            <a:endParaRPr lang="en-US" altLang="en-US" sz="1600"/>
          </a:p>
        </p:txBody>
      </p:sp>
      <p:cxnSp>
        <p:nvCxnSpPr>
          <p:cNvPr id="34" name="Straight Connector 33"/>
          <p:cNvCxnSpPr>
            <a:stCxn id="27" idx="2"/>
          </p:cNvCxnSpPr>
          <p:nvPr/>
        </p:nvCxnSpPr>
        <p:spPr>
          <a:xfrm flipH="1">
            <a:off x="6157595" y="1060450"/>
            <a:ext cx="5080" cy="469265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29" idx="0"/>
          </p:cNvCxnSpPr>
          <p:nvPr/>
        </p:nvCxnSpPr>
        <p:spPr>
          <a:xfrm flipH="1">
            <a:off x="4439285" y="1525270"/>
            <a:ext cx="1270" cy="5048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33" idx="0"/>
          </p:cNvCxnSpPr>
          <p:nvPr/>
        </p:nvCxnSpPr>
        <p:spPr>
          <a:xfrm flipH="1">
            <a:off x="7721600" y="1529080"/>
            <a:ext cx="2540" cy="50101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-170180" y="106045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Scope</a:t>
            </a:r>
            <a:endParaRPr lang="vi-VN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1105" name="COLUMN…"/>
          <p:cNvSpPr txBox="1"/>
          <p:nvPr/>
        </p:nvSpPr>
        <p:spPr>
          <a:xfrm>
            <a:off x="2787968" y="1950085"/>
            <a:ext cx="1354455" cy="39878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p>
            <a:pPr algn="ctr">
              <a:defRPr sz="4400">
                <a:solidFill>
                  <a:srgbClr val="404040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vi-VN" altLang="zh-CN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Đối </a:t>
            </a:r>
            <a:r>
              <a:rPr lang="vi-VN" altLang="zh-CN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tượng</a:t>
            </a:r>
            <a:endParaRPr lang="vi-VN" altLang="zh-CN" sz="2000">
              <a:solidFill>
                <a:schemeClr val="accent6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Inter Black" panose="0200050300000002000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3"/>
            </p:custDataLst>
          </p:nvPr>
        </p:nvSpPr>
        <p:spPr>
          <a:xfrm rot="10800000" flipH="1">
            <a:off x="1795780" y="1785620"/>
            <a:ext cx="3338830" cy="727710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26" name="平行四边形 5"/>
          <p:cNvSpPr/>
          <p:nvPr>
            <p:custDataLst>
              <p:tags r:id="rId4"/>
            </p:custDataLst>
          </p:nvPr>
        </p:nvSpPr>
        <p:spPr>
          <a:xfrm rot="10800000" flipH="1">
            <a:off x="6903720" y="1785620"/>
            <a:ext cx="3338830" cy="727710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27" name="COLUMN…"/>
          <p:cNvSpPr txBox="1"/>
          <p:nvPr/>
        </p:nvSpPr>
        <p:spPr>
          <a:xfrm>
            <a:off x="7953376" y="1950085"/>
            <a:ext cx="1275080" cy="39878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p>
            <a:pPr algn="ctr">
              <a:defRPr sz="4400">
                <a:solidFill>
                  <a:srgbClr val="404040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vi-VN" altLang="zh-CN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Thời </a:t>
            </a:r>
            <a:r>
              <a:rPr lang="vi-VN" altLang="zh-CN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gian</a:t>
            </a:r>
            <a:endParaRPr lang="vi-VN" altLang="zh-CN" sz="2000">
              <a:solidFill>
                <a:schemeClr val="accent6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Inter Black" panose="02000503000000020004" charset="0"/>
            </a:endParaRPr>
          </a:p>
        </p:txBody>
      </p:sp>
      <p:pic>
        <p:nvPicPr>
          <p:cNvPr id="28" name="Picture 27"/>
          <p:cNvPicPr/>
          <p:nvPr/>
        </p:nvPicPr>
        <p:blipFill>
          <a:blip r:embed="rId5"/>
          <a:stretch>
            <a:fillRect/>
          </a:stretch>
        </p:blipFill>
        <p:spPr>
          <a:xfrm>
            <a:off x="0" y="2875915"/>
            <a:ext cx="3923030" cy="2024380"/>
          </a:xfrm>
          <a:prstGeom prst="rect">
            <a:avLst/>
          </a:prstGeom>
        </p:spPr>
      </p:pic>
      <p:pic>
        <p:nvPicPr>
          <p:cNvPr id="29" name="Picture 28"/>
          <p:cNvPicPr/>
          <p:nvPr/>
        </p:nvPicPr>
        <p:blipFill>
          <a:blip r:embed="rId6"/>
          <a:stretch>
            <a:fillRect/>
          </a:stretch>
        </p:blipFill>
        <p:spPr>
          <a:xfrm>
            <a:off x="3937635" y="2875915"/>
            <a:ext cx="1905000" cy="1905000"/>
          </a:xfrm>
          <a:prstGeom prst="rect">
            <a:avLst/>
          </a:prstGeom>
        </p:spPr>
      </p:pic>
      <p:sp>
        <p:nvSpPr>
          <p:cNvPr id="30" name="COLUMN…"/>
          <p:cNvSpPr txBox="1"/>
          <p:nvPr/>
        </p:nvSpPr>
        <p:spPr>
          <a:xfrm>
            <a:off x="6981190" y="2660015"/>
            <a:ext cx="3359150" cy="29972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noAutofit/>
          </a:bodyPr>
          <a:p>
            <a:pPr algn="ctr">
              <a:defRPr sz="4400">
                <a:solidFill>
                  <a:srgbClr val="404040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vi-VN" altLang="zh-CN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6 tuần</a:t>
            </a:r>
            <a:br>
              <a:rPr lang="vi-VN" altLang="zh-CN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</a:br>
            <a:br>
              <a:rPr lang="vi-VN" altLang="zh-CN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</a:br>
            <a:r>
              <a:rPr lang="vi-VN" altLang="zh-CN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- Thu thập dữ  liệu</a:t>
            </a:r>
            <a:br>
              <a:rPr lang="vi-VN" altLang="zh-CN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</a:br>
            <a:r>
              <a:rPr lang="vi-VN" altLang="zh-CN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- Xây dựng mô hình</a:t>
            </a:r>
            <a:br>
              <a:rPr lang="vi-VN" altLang="zh-CN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</a:br>
            <a:r>
              <a:rPr lang="vi-VN" altLang="zh-CN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- Tổng hợp báo </a:t>
            </a:r>
            <a:r>
              <a:rPr lang="vi-VN" altLang="zh-CN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cáo</a:t>
            </a:r>
            <a:endParaRPr lang="vi-VN" altLang="zh-CN" sz="2000">
              <a:solidFill>
                <a:schemeClr val="accent6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Inter Black" panose="02000503000000020004" charset="0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24638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vi-V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Dataset</a:t>
            </a:r>
            <a:endParaRPr lang="en-US" altLang="vi-V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pic>
        <p:nvPicPr>
          <p:cNvPr id="2" name="image14.png"/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307975" y="1285875"/>
            <a:ext cx="5481320" cy="2651760"/>
          </a:xfrm>
          <a:prstGeom prst="rect">
            <a:avLst/>
          </a:prstGeom>
        </p:spPr>
      </p:pic>
      <p:graphicFrame>
        <p:nvGraphicFramePr>
          <p:cNvPr id="5" name="Table 4"/>
          <p:cNvGraphicFramePr/>
          <p:nvPr/>
        </p:nvGraphicFramePr>
        <p:xfrm>
          <a:off x="6435725" y="1731010"/>
          <a:ext cx="5580380" cy="0"/>
        </p:xfrm>
        <a:graphic>
          <a:graphicData uri="http://schemas.openxmlformats.org/drawingml/2006/table">
            <a:tbl>
              <a:tblPr/>
              <a:tblGrid>
                <a:gridCol w="1395095"/>
                <a:gridCol w="1395095"/>
                <a:gridCol w="1395095"/>
                <a:gridCol w="1395095"/>
              </a:tblGrid>
              <a:tr h="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Train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Development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Test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Số đánh giá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14306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1590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3974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Từ vựng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19677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5046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9040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/>
        </p:nvGraphicFramePr>
        <p:xfrm>
          <a:off x="6303010" y="4596130"/>
          <a:ext cx="5581650" cy="1336040"/>
        </p:xfrm>
        <a:graphic>
          <a:graphicData uri="http://schemas.openxmlformats.org/drawingml/2006/table">
            <a:tbl>
              <a:tblPr/>
              <a:tblGrid>
                <a:gridCol w="930275"/>
                <a:gridCol w="930275"/>
                <a:gridCol w="930275"/>
                <a:gridCol w="930275"/>
                <a:gridCol w="930275"/>
                <a:gridCol w="930275"/>
              </a:tblGrid>
              <a:tr h="48768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Star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1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2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3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4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5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Spam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50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3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50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1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50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1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50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50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190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No spam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213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93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193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292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9793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7B2FA"/>
                    </a:solidFill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445135" y="43840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Soucre: Github (1)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189230" y="57099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[1]:</a:t>
            </a:r>
            <a:r>
              <a:rPr lang="en-US" altLang="en-US">
                <a:solidFill>
                  <a:schemeClr val="bg1"/>
                </a:solidFill>
              </a:rPr>
              <a:t>https://github.com/sonlam1102/vispamdetection.git</a:t>
            </a:r>
            <a:endParaRPr lang="en-US" altLang="en-US">
              <a:solidFill>
                <a:schemeClr val="bg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55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25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16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21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64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63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65" name="文本框 64"/>
              <p:cNvSpPr txBox="1"/>
              <p:nvPr/>
            </p:nvSpPr>
            <p:spPr>
              <a:xfrm flipH="1">
                <a:off x="7526" y="4535"/>
                <a:ext cx="6169" cy="2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vi-VN" altLang="zh-CN" sz="5600" i="1" cap="all" dirty="0">
                    <a:solidFill>
                      <a:schemeClr val="bg2"/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Related </a:t>
                </a:r>
                <a:r>
                  <a:rPr lang="vi-VN" altLang="zh-CN" sz="5600" i="1" cap="all" dirty="0">
                    <a:solidFill>
                      <a:schemeClr val="bg2"/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work</a:t>
                </a:r>
                <a:endParaRPr lang="vi-VN" altLang="zh-CN" sz="56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4929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02</a:t>
                </a:r>
                <a:endParaRPr lang="en-US" altLang="zh-CN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3" name="文本框 2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237" y="6007"/>
                <a:ext cx="4478" cy="33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dist"/>
                <a:endParaRPr sz="800" i="1" cap="all">
                  <a:ln>
                    <a:noFill/>
                  </a:ln>
                  <a:solidFill>
                    <a:schemeClr val="bg1">
                      <a:alpha val="50000"/>
                    </a:schemeClr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</p:txBody>
          </p:sp>
        </p:grpSp>
      </p:grpSp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9370" y="305435"/>
            <a:ext cx="2987675" cy="937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Mô hình CNN</a:t>
            </a:r>
            <a:b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br>
            <a: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đơn giản</a:t>
            </a:r>
            <a:endParaRPr lang="en-US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8201025" y="469900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8819515" y="469900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0056495" y="469900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9438005" y="469900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8467090" y="448627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9062085" y="448627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1291590" y="469900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1910080" y="469900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1545590" y="448627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2164080" y="448627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1790065" y="432498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2408555" y="432498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8688070" y="431419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4" name="Rounded Rectangle 43"/>
          <p:cNvSpPr/>
          <p:nvPr/>
        </p:nvSpPr>
        <p:spPr>
          <a:xfrm>
            <a:off x="9661525" y="448627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>
            <a:off x="10258425" y="448627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6" name="Rounded Rectangle 45"/>
          <p:cNvSpPr/>
          <p:nvPr/>
        </p:nvSpPr>
        <p:spPr>
          <a:xfrm>
            <a:off x="4553585" y="469900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5172075" y="469900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>
            <a:off x="4807585" y="448627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Rounded Rectangle 48"/>
          <p:cNvSpPr/>
          <p:nvPr/>
        </p:nvSpPr>
        <p:spPr>
          <a:xfrm>
            <a:off x="5790565" y="469900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0" name="Rounded Rectangle 49"/>
          <p:cNvSpPr/>
          <p:nvPr/>
        </p:nvSpPr>
        <p:spPr>
          <a:xfrm>
            <a:off x="5426075" y="448627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6044565" y="448627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5663565" y="432498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5028565" y="432498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4" name="Rounded Rectangle 53"/>
          <p:cNvSpPr/>
          <p:nvPr/>
        </p:nvSpPr>
        <p:spPr>
          <a:xfrm>
            <a:off x="6298565" y="431419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Rounded Rectangle 54"/>
          <p:cNvSpPr/>
          <p:nvPr/>
        </p:nvSpPr>
        <p:spPr>
          <a:xfrm>
            <a:off x="9316085" y="431419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Rounded Rectangle 55"/>
          <p:cNvSpPr/>
          <p:nvPr/>
        </p:nvSpPr>
        <p:spPr>
          <a:xfrm>
            <a:off x="10544810" y="432498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7" name="Rounded Rectangle 56"/>
          <p:cNvSpPr/>
          <p:nvPr/>
        </p:nvSpPr>
        <p:spPr>
          <a:xfrm>
            <a:off x="9923145" y="432498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8" name="Rounded Rectangle 57"/>
          <p:cNvSpPr/>
          <p:nvPr/>
        </p:nvSpPr>
        <p:spPr>
          <a:xfrm>
            <a:off x="5790565" y="270954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Rounded Rectangle 58"/>
          <p:cNvSpPr/>
          <p:nvPr/>
        </p:nvSpPr>
        <p:spPr>
          <a:xfrm>
            <a:off x="5155565" y="270954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Rounded Rectangle 59"/>
          <p:cNvSpPr/>
          <p:nvPr/>
        </p:nvSpPr>
        <p:spPr>
          <a:xfrm>
            <a:off x="6425565" y="269875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Rounded Rectangle 60"/>
          <p:cNvSpPr/>
          <p:nvPr/>
        </p:nvSpPr>
        <p:spPr>
          <a:xfrm>
            <a:off x="2164080" y="270954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Rounded Rectangle 61"/>
          <p:cNvSpPr/>
          <p:nvPr/>
        </p:nvSpPr>
        <p:spPr>
          <a:xfrm>
            <a:off x="1529080" y="270954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3" name="Rounded Rectangle 62"/>
          <p:cNvSpPr/>
          <p:nvPr/>
        </p:nvSpPr>
        <p:spPr>
          <a:xfrm>
            <a:off x="2799080" y="269875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4" name="Rounded Rectangle 63"/>
          <p:cNvSpPr/>
          <p:nvPr/>
        </p:nvSpPr>
        <p:spPr>
          <a:xfrm>
            <a:off x="9304655" y="269875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5" name="Rounded Rectangle 64"/>
          <p:cNvSpPr/>
          <p:nvPr/>
        </p:nvSpPr>
        <p:spPr>
          <a:xfrm>
            <a:off x="8669655" y="269875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6" name="Rounded Rectangle 65"/>
          <p:cNvSpPr/>
          <p:nvPr/>
        </p:nvSpPr>
        <p:spPr>
          <a:xfrm>
            <a:off x="9939655" y="2687955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7" name="Rounded Rectangle 66"/>
          <p:cNvSpPr/>
          <p:nvPr/>
        </p:nvSpPr>
        <p:spPr>
          <a:xfrm>
            <a:off x="3515360" y="6153150"/>
            <a:ext cx="1435100" cy="60706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dung</a:t>
            </a:r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2081530" y="6153150"/>
            <a:ext cx="1433830" cy="60706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Nội</a:t>
            </a:r>
            <a:endParaRPr lang="en-US"/>
          </a:p>
        </p:txBody>
      </p:sp>
      <p:sp>
        <p:nvSpPr>
          <p:cNvPr id="71" name="Rounded Rectangle 70"/>
          <p:cNvSpPr/>
          <p:nvPr/>
        </p:nvSpPr>
        <p:spPr>
          <a:xfrm>
            <a:off x="4950460" y="6153150"/>
            <a:ext cx="1435100" cy="60706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seeding</a:t>
            </a:r>
            <a:endParaRPr lang="en-US"/>
          </a:p>
        </p:txBody>
      </p:sp>
      <p:sp>
        <p:nvSpPr>
          <p:cNvPr id="73" name="Rounded Rectangle 72"/>
          <p:cNvSpPr/>
          <p:nvPr/>
        </p:nvSpPr>
        <p:spPr>
          <a:xfrm>
            <a:off x="6385560" y="6153150"/>
            <a:ext cx="1435735" cy="60706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là</a:t>
            </a:r>
            <a:endParaRPr lang="en-US"/>
          </a:p>
        </p:txBody>
      </p:sp>
      <p:sp>
        <p:nvSpPr>
          <p:cNvPr id="74" name="Rounded Rectangle 73"/>
          <p:cNvSpPr/>
          <p:nvPr/>
        </p:nvSpPr>
        <p:spPr>
          <a:xfrm>
            <a:off x="7821295" y="6152515"/>
            <a:ext cx="1433830" cy="60769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gì</a:t>
            </a:r>
            <a:endParaRPr lang="en-US"/>
          </a:p>
        </p:txBody>
      </p:sp>
      <p:sp>
        <p:nvSpPr>
          <p:cNvPr id="75" name="Up Arrow 74"/>
          <p:cNvSpPr/>
          <p:nvPr/>
        </p:nvSpPr>
        <p:spPr>
          <a:xfrm>
            <a:off x="3515360" y="5367655"/>
            <a:ext cx="4478020" cy="577215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Conv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4807585" y="113030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7" name="Rounded Rectangle 76"/>
          <p:cNvSpPr/>
          <p:nvPr/>
        </p:nvSpPr>
        <p:spPr>
          <a:xfrm>
            <a:off x="4172585" y="113030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8" name="Rounded Rectangle 77"/>
          <p:cNvSpPr/>
          <p:nvPr/>
        </p:nvSpPr>
        <p:spPr>
          <a:xfrm>
            <a:off x="7202805" y="113030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9" name="Rounded Rectangle 78"/>
          <p:cNvSpPr/>
          <p:nvPr/>
        </p:nvSpPr>
        <p:spPr>
          <a:xfrm>
            <a:off x="6567805" y="1130300"/>
            <a:ext cx="618490" cy="511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0" name="Up Arrow 79"/>
          <p:cNvSpPr/>
          <p:nvPr/>
        </p:nvSpPr>
        <p:spPr>
          <a:xfrm>
            <a:off x="3515360" y="3563620"/>
            <a:ext cx="4478020" cy="577215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Pooling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1" name="Up Arrow 80"/>
          <p:cNvSpPr/>
          <p:nvPr/>
        </p:nvSpPr>
        <p:spPr>
          <a:xfrm>
            <a:off x="3642360" y="1875790"/>
            <a:ext cx="4478020" cy="577215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Concat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5255895" y="305435"/>
            <a:ext cx="1433830" cy="60769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Label</a:t>
            </a:r>
            <a:endParaRPr lang="en-US"/>
          </a:p>
        </p:txBody>
      </p:sp>
      <p:cxnSp>
        <p:nvCxnSpPr>
          <p:cNvPr id="83" name="Straight Connector 82"/>
          <p:cNvCxnSpPr>
            <a:stCxn id="76" idx="3"/>
            <a:endCxn id="79" idx="1"/>
          </p:cNvCxnSpPr>
          <p:nvPr/>
        </p:nvCxnSpPr>
        <p:spPr>
          <a:xfrm>
            <a:off x="5426075" y="1386205"/>
            <a:ext cx="1141730" cy="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endCxn id="82" idx="2"/>
          </p:cNvCxnSpPr>
          <p:nvPr/>
        </p:nvCxnSpPr>
        <p:spPr>
          <a:xfrm flipV="1">
            <a:off x="5962650" y="913130"/>
            <a:ext cx="10160" cy="5568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任意多边形: 形状 138"/>
          <p:cNvSpPr/>
          <p:nvPr>
            <p:custDataLst>
              <p:tags r:id="rId1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09770" y="86360"/>
            <a:ext cx="2987675" cy="937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Mô hình RNN</a:t>
            </a:r>
            <a:b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br>
            <a: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đơn giản</a:t>
            </a:r>
            <a:endParaRPr lang="en-US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3515360" y="5502910"/>
            <a:ext cx="1435100" cy="60706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dung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081530" y="5502910"/>
            <a:ext cx="1433830" cy="60706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Nội</a:t>
            </a:r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950460" y="5502910"/>
            <a:ext cx="1435100" cy="60706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seeding</a:t>
            </a: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385560" y="5502910"/>
            <a:ext cx="1435735" cy="60706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là</a:t>
            </a:r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7821295" y="5502275"/>
            <a:ext cx="1433830" cy="60769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gì</a:t>
            </a:r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2270760" y="4171950"/>
            <a:ext cx="1055370" cy="606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r>
              <a:rPr lang="en-US" baseline="-25000"/>
              <a:t>12</a:t>
            </a:r>
            <a:endParaRPr lang="en-US" baseline="-25000"/>
          </a:p>
        </p:txBody>
      </p:sp>
      <p:sp>
        <p:nvSpPr>
          <p:cNvPr id="30" name="Rounded Rectangle 29"/>
          <p:cNvSpPr/>
          <p:nvPr/>
        </p:nvSpPr>
        <p:spPr>
          <a:xfrm>
            <a:off x="3705225" y="4171950"/>
            <a:ext cx="1055370" cy="606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r>
              <a:rPr lang="en-US" baseline="-25000"/>
              <a:t>13</a:t>
            </a:r>
            <a:endParaRPr lang="en-US" baseline="-25000"/>
          </a:p>
        </p:txBody>
      </p:sp>
      <p:sp>
        <p:nvSpPr>
          <p:cNvPr id="31" name="Rounded Rectangle 30"/>
          <p:cNvSpPr/>
          <p:nvPr/>
        </p:nvSpPr>
        <p:spPr>
          <a:xfrm>
            <a:off x="5139690" y="4171950"/>
            <a:ext cx="1055370" cy="606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r>
              <a:rPr lang="en-US" baseline="-25000"/>
              <a:t>14</a:t>
            </a:r>
            <a:endParaRPr lang="en-US" baseline="-25000"/>
          </a:p>
        </p:txBody>
      </p:sp>
      <p:sp>
        <p:nvSpPr>
          <p:cNvPr id="33" name="Rounded Rectangle 32"/>
          <p:cNvSpPr/>
          <p:nvPr/>
        </p:nvSpPr>
        <p:spPr>
          <a:xfrm>
            <a:off x="6574155" y="4171950"/>
            <a:ext cx="1055370" cy="606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r>
              <a:rPr lang="en-US" baseline="-25000"/>
              <a:t>15</a:t>
            </a:r>
            <a:endParaRPr lang="en-US" baseline="-25000"/>
          </a:p>
        </p:txBody>
      </p:sp>
      <p:sp>
        <p:nvSpPr>
          <p:cNvPr id="34" name="Rounded Rectangle 33"/>
          <p:cNvSpPr/>
          <p:nvPr/>
        </p:nvSpPr>
        <p:spPr>
          <a:xfrm>
            <a:off x="8008620" y="4171950"/>
            <a:ext cx="1055370" cy="606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r>
              <a:rPr lang="en-US" baseline="-25000"/>
              <a:t>16</a:t>
            </a:r>
            <a:endParaRPr lang="en-US" baseline="-25000"/>
          </a:p>
        </p:txBody>
      </p:sp>
      <p:sp>
        <p:nvSpPr>
          <p:cNvPr id="35" name="Rounded Rectangle 34"/>
          <p:cNvSpPr/>
          <p:nvPr/>
        </p:nvSpPr>
        <p:spPr>
          <a:xfrm>
            <a:off x="2270760" y="2900045"/>
            <a:ext cx="1055370" cy="606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r>
              <a:rPr lang="en-US" baseline="-25000"/>
              <a:t>21</a:t>
            </a:r>
            <a:endParaRPr lang="en-US" baseline="-25000"/>
          </a:p>
        </p:txBody>
      </p:sp>
      <p:sp>
        <p:nvSpPr>
          <p:cNvPr id="36" name="Rounded Rectangle 35"/>
          <p:cNvSpPr/>
          <p:nvPr/>
        </p:nvSpPr>
        <p:spPr>
          <a:xfrm>
            <a:off x="3705225" y="2900045"/>
            <a:ext cx="1055370" cy="606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r>
              <a:rPr lang="en-US" baseline="-25000"/>
              <a:t>22</a:t>
            </a:r>
            <a:endParaRPr lang="en-US" baseline="-25000"/>
          </a:p>
        </p:txBody>
      </p:sp>
      <p:sp>
        <p:nvSpPr>
          <p:cNvPr id="37" name="Rounded Rectangle 36"/>
          <p:cNvSpPr/>
          <p:nvPr/>
        </p:nvSpPr>
        <p:spPr>
          <a:xfrm>
            <a:off x="5139690" y="2900045"/>
            <a:ext cx="1055370" cy="606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r>
              <a:rPr lang="en-US" baseline="-25000"/>
              <a:t>23</a:t>
            </a:r>
            <a:endParaRPr lang="en-US" baseline="-25000"/>
          </a:p>
        </p:txBody>
      </p:sp>
      <p:sp>
        <p:nvSpPr>
          <p:cNvPr id="38" name="Rounded Rectangle 37"/>
          <p:cNvSpPr/>
          <p:nvPr/>
        </p:nvSpPr>
        <p:spPr>
          <a:xfrm>
            <a:off x="6574155" y="2900045"/>
            <a:ext cx="1055370" cy="606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r>
              <a:rPr lang="en-US" baseline="-25000"/>
              <a:t>24</a:t>
            </a:r>
            <a:endParaRPr lang="en-US" baseline="-25000"/>
          </a:p>
        </p:txBody>
      </p:sp>
      <p:sp>
        <p:nvSpPr>
          <p:cNvPr id="39" name="Rounded Rectangle 38"/>
          <p:cNvSpPr/>
          <p:nvPr/>
        </p:nvSpPr>
        <p:spPr>
          <a:xfrm>
            <a:off x="8008620" y="2900045"/>
            <a:ext cx="1055370" cy="606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</a:t>
            </a:r>
            <a:r>
              <a:rPr lang="en-US" baseline="-25000"/>
              <a:t>25</a:t>
            </a:r>
            <a:endParaRPr lang="en-US" baseline="-25000"/>
          </a:p>
        </p:txBody>
      </p:sp>
      <p:sp>
        <p:nvSpPr>
          <p:cNvPr id="40" name="Rounded Rectangle 39"/>
          <p:cNvSpPr/>
          <p:nvPr/>
        </p:nvSpPr>
        <p:spPr>
          <a:xfrm>
            <a:off x="8008620" y="1562735"/>
            <a:ext cx="1055370" cy="60642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aseline="-25000"/>
              <a:t>Label</a:t>
            </a:r>
            <a:endParaRPr lang="en-US" sz="2400" baseline="-25000"/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2798445" y="3506470"/>
            <a:ext cx="0" cy="724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2798445" y="4778375"/>
            <a:ext cx="0" cy="724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4232910" y="3506470"/>
            <a:ext cx="0" cy="724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 flipV="1">
            <a:off x="4232910" y="4778375"/>
            <a:ext cx="0" cy="724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V="1">
            <a:off x="5667375" y="3506470"/>
            <a:ext cx="0" cy="724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V="1">
            <a:off x="5667375" y="4777740"/>
            <a:ext cx="0" cy="724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flipV="1">
            <a:off x="7101840" y="3506470"/>
            <a:ext cx="0" cy="724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V="1">
            <a:off x="7103745" y="4778375"/>
            <a:ext cx="0" cy="724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V="1">
            <a:off x="8536305" y="3506470"/>
            <a:ext cx="0" cy="724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flipV="1">
            <a:off x="8536305" y="4777740"/>
            <a:ext cx="0" cy="724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V="1">
            <a:off x="8536305" y="2175510"/>
            <a:ext cx="0" cy="724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35" idx="3"/>
            <a:endCxn id="36" idx="1"/>
          </p:cNvCxnSpPr>
          <p:nvPr/>
        </p:nvCxnSpPr>
        <p:spPr>
          <a:xfrm>
            <a:off x="3326130" y="3203575"/>
            <a:ext cx="3790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3326130" y="4476750"/>
            <a:ext cx="3790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4760595" y="4476750"/>
            <a:ext cx="3790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4760595" y="3203575"/>
            <a:ext cx="3790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6195060" y="3203575"/>
            <a:ext cx="3790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6195060" y="4474845"/>
            <a:ext cx="3790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>
            <a:off x="7629525" y="3203575"/>
            <a:ext cx="3790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7629525" y="4474845"/>
            <a:ext cx="3790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04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105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6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7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8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9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10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111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112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13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14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15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16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17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55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25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16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21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64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63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65" name="文本框 64"/>
              <p:cNvSpPr txBox="1"/>
              <p:nvPr/>
            </p:nvSpPr>
            <p:spPr>
              <a:xfrm flipH="1">
                <a:off x="7526" y="4535"/>
                <a:ext cx="6959" cy="2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5600" i="1" cap="all" dirty="0">
                    <a:solidFill>
                      <a:schemeClr val="bg2"/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Proposed</a:t>
                </a:r>
                <a:endParaRPr lang="en-US" altLang="zh-CN" sz="56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  <a:p>
                <a:pPr algn="ctr"/>
                <a:r>
                  <a:rPr lang="en-US" altLang="zh-CN" sz="5600" i="1" cap="all" dirty="0">
                    <a:solidFill>
                      <a:schemeClr val="bg2"/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method</a:t>
                </a:r>
                <a:endParaRPr lang="en-US" altLang="zh-CN" sz="56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4929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03</a:t>
                </a:r>
                <a:endParaRPr lang="en-US" altLang="zh-CN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3" name="文本框 2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237" y="6007"/>
                <a:ext cx="4478" cy="33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dist"/>
                <a:r>
                  <a:rPr sz="800" i="1" cap="all">
                    <a:ln>
                      <a:noFill/>
                    </a:ln>
                    <a:solidFill>
                      <a:schemeClr val="bg1">
                        <a:alpha val="50000"/>
                      </a:schemeClr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Add a short description</a:t>
                </a:r>
                <a:endParaRPr sz="800" i="1" cap="all">
                  <a:ln>
                    <a:noFill/>
                  </a:ln>
                  <a:solidFill>
                    <a:schemeClr val="bg1">
                      <a:alpha val="50000"/>
                    </a:schemeClr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</p:txBody>
          </p:sp>
        </p:grpSp>
      </p:grpSp>
    </p:spTree>
    <p:custDataLst>
      <p:tags r:id="rId6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任意多边形: 形状 138"/>
          <p:cNvSpPr/>
          <p:nvPr>
            <p:custDataLst>
              <p:tags r:id="rId1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Main process</a:t>
            </a:r>
            <a:endParaRPr lang="en-US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5" name="Flowchart: Magnetic Disk 4"/>
          <p:cNvSpPr/>
          <p:nvPr/>
        </p:nvSpPr>
        <p:spPr>
          <a:xfrm>
            <a:off x="449580" y="751840"/>
            <a:ext cx="1052195" cy="611505"/>
          </a:xfrm>
          <a:prstGeom prst="flowChartMagneticDisk">
            <a:avLst/>
          </a:prstGeom>
          <a:solidFill>
            <a:schemeClr val="tx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Dataset</a:t>
            </a:r>
            <a:endParaRPr lang="vi-VN" altLang="en-US"/>
          </a:p>
        </p:txBody>
      </p:sp>
      <p:sp>
        <p:nvSpPr>
          <p:cNvPr id="6" name="Round Single Corner Rectangle 5"/>
          <p:cNvSpPr/>
          <p:nvPr/>
        </p:nvSpPr>
        <p:spPr>
          <a:xfrm>
            <a:off x="89535" y="1780540"/>
            <a:ext cx="1772920" cy="791845"/>
          </a:xfrm>
          <a:prstGeom prst="round1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Data </a:t>
            </a:r>
            <a:r>
              <a:rPr lang="vi-VN" altLang="en-US"/>
              <a:t>Preprocessing</a:t>
            </a:r>
            <a:endParaRPr lang="vi-VN" altLang="en-US"/>
          </a:p>
        </p:txBody>
      </p:sp>
      <p:sp>
        <p:nvSpPr>
          <p:cNvPr id="18" name="Rectangles 17"/>
          <p:cNvSpPr/>
          <p:nvPr/>
        </p:nvSpPr>
        <p:spPr>
          <a:xfrm rot="5400000">
            <a:off x="-472440" y="4042410"/>
            <a:ext cx="2898140" cy="791845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vi-VN"/>
          </a:p>
        </p:txBody>
      </p:sp>
      <p:sp>
        <p:nvSpPr>
          <p:cNvPr id="19" name="Rectangles 18"/>
          <p:cNvSpPr/>
          <p:nvPr/>
        </p:nvSpPr>
        <p:spPr>
          <a:xfrm>
            <a:off x="9420860" y="3993515"/>
            <a:ext cx="2323465" cy="791845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Performance </a:t>
            </a:r>
            <a:r>
              <a:rPr lang="vi-VN" altLang="en-US"/>
              <a:t>evaluation</a:t>
            </a:r>
            <a:endParaRPr lang="vi-VN" altLang="en-US"/>
          </a:p>
        </p:txBody>
      </p:sp>
      <p:sp>
        <p:nvSpPr>
          <p:cNvPr id="20" name="Rectangles 19"/>
          <p:cNvSpPr/>
          <p:nvPr/>
        </p:nvSpPr>
        <p:spPr>
          <a:xfrm>
            <a:off x="9420860" y="1586230"/>
            <a:ext cx="2323465" cy="791845"/>
          </a:xfrm>
          <a:prstGeom prst="rect">
            <a:avLst/>
          </a:prstGeom>
          <a:solidFill>
            <a:srgbClr val="FF0000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Results </a:t>
            </a:r>
            <a:r>
              <a:rPr lang="vi-VN" altLang="en-US"/>
              <a:t>Analysis</a:t>
            </a:r>
            <a:endParaRPr lang="vi-VN" altLang="en-US"/>
          </a:p>
        </p:txBody>
      </p:sp>
      <p:sp>
        <p:nvSpPr>
          <p:cNvPr id="21" name="Rounded Rectangle 20"/>
          <p:cNvSpPr/>
          <p:nvPr/>
        </p:nvSpPr>
        <p:spPr>
          <a:xfrm>
            <a:off x="3361690" y="2886075"/>
            <a:ext cx="2093595" cy="9144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vi-VN"/>
              <a:t>Naive Bayes, Logistic Regression, SVM</a:t>
            </a:r>
            <a:endParaRPr lang="en-US" altLang="vi-VN"/>
          </a:p>
        </p:txBody>
      </p:sp>
      <p:sp>
        <p:nvSpPr>
          <p:cNvPr id="22" name="Rounded Rectangle 21"/>
          <p:cNvSpPr/>
          <p:nvPr/>
        </p:nvSpPr>
        <p:spPr>
          <a:xfrm>
            <a:off x="3371215" y="4102100"/>
            <a:ext cx="2095500" cy="178562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vi-VN"/>
              <a:t>CNN, BiLSTM</a:t>
            </a:r>
            <a:endParaRPr lang="en-US" altLang="vi-VN"/>
          </a:p>
        </p:txBody>
      </p:sp>
      <p:sp>
        <p:nvSpPr>
          <p:cNvPr id="23" name="Text Box 22"/>
          <p:cNvSpPr txBox="1"/>
          <p:nvPr/>
        </p:nvSpPr>
        <p:spPr>
          <a:xfrm>
            <a:off x="1871345" y="2886075"/>
            <a:ext cx="1169670" cy="4051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r>
              <a:rPr lang="vi-VN" altLang="en-US">
                <a:sym typeface="+mn-ea"/>
              </a:rPr>
              <a:t>TF-IDF</a:t>
            </a:r>
            <a:endParaRPr lang="vi-VN" altLang="en-US">
              <a:sym typeface="+mn-ea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1823720" y="4654550"/>
            <a:ext cx="1217295" cy="340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r>
              <a:rPr lang="en-US" altLang="vi-VN">
                <a:sym typeface="+mn-ea"/>
              </a:rPr>
              <a:t>FastText</a:t>
            </a:r>
            <a:endParaRPr lang="en-US" altLang="vi-VN">
              <a:sym typeface="+mn-ea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579120" y="2989580"/>
            <a:ext cx="793750" cy="26911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379220" y="3291205"/>
            <a:ext cx="1976120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372870" y="4994910"/>
            <a:ext cx="1976120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5" idx="3"/>
            <a:endCxn id="6" idx="0"/>
          </p:cNvCxnSpPr>
          <p:nvPr/>
        </p:nvCxnSpPr>
        <p:spPr>
          <a:xfrm>
            <a:off x="975995" y="1363345"/>
            <a:ext cx="0" cy="417195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6" idx="2"/>
            <a:endCxn id="18" idx="1"/>
          </p:cNvCxnSpPr>
          <p:nvPr/>
        </p:nvCxnSpPr>
        <p:spPr>
          <a:xfrm>
            <a:off x="975995" y="2572385"/>
            <a:ext cx="635" cy="417195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Round Diagonal Corner Rectangle 29"/>
          <p:cNvSpPr/>
          <p:nvPr/>
        </p:nvSpPr>
        <p:spPr>
          <a:xfrm>
            <a:off x="6701155" y="3304540"/>
            <a:ext cx="1784985" cy="914400"/>
          </a:xfrm>
          <a:prstGeom prst="round2DiagRect">
            <a:avLst/>
          </a:prstGeom>
          <a:solidFill>
            <a:srgbClr val="7030A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Datasampling</a:t>
            </a:r>
            <a:endParaRPr lang="en-US"/>
          </a:p>
        </p:txBody>
      </p:sp>
      <p:sp>
        <p:nvSpPr>
          <p:cNvPr id="31" name="Round Diagonal Corner Rectangle 30"/>
          <p:cNvSpPr/>
          <p:nvPr/>
        </p:nvSpPr>
        <p:spPr>
          <a:xfrm>
            <a:off x="6701155" y="4717415"/>
            <a:ext cx="1742440" cy="914400"/>
          </a:xfrm>
          <a:prstGeom prst="round2DiagRect">
            <a:avLst/>
          </a:prstGeom>
          <a:solidFill>
            <a:srgbClr val="7030A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Imbalance Loss</a:t>
            </a:r>
            <a:endParaRPr lang="en-US"/>
          </a:p>
        </p:txBody>
      </p:sp>
      <p:cxnSp>
        <p:nvCxnSpPr>
          <p:cNvPr id="32" name="Elbow Connector 31"/>
          <p:cNvCxnSpPr>
            <a:stCxn id="21" idx="3"/>
            <a:endCxn id="30" idx="2"/>
          </p:cNvCxnSpPr>
          <p:nvPr/>
        </p:nvCxnSpPr>
        <p:spPr>
          <a:xfrm>
            <a:off x="5455285" y="3343275"/>
            <a:ext cx="1245870" cy="418465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endCxn id="31" idx="2"/>
          </p:cNvCxnSpPr>
          <p:nvPr/>
        </p:nvCxnSpPr>
        <p:spPr>
          <a:xfrm flipV="1">
            <a:off x="5460365" y="5174615"/>
            <a:ext cx="1240790" cy="457200"/>
          </a:xfrm>
          <a:prstGeom prst="bentConnector3">
            <a:avLst>
              <a:gd name="adj1" fmla="val 50051"/>
            </a:avLst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30" idx="0"/>
            <a:endCxn id="19" idx="1"/>
          </p:cNvCxnSpPr>
          <p:nvPr/>
        </p:nvCxnSpPr>
        <p:spPr>
          <a:xfrm>
            <a:off x="8486140" y="3761740"/>
            <a:ext cx="934720" cy="628015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31" idx="0"/>
            <a:endCxn id="19" idx="1"/>
          </p:cNvCxnSpPr>
          <p:nvPr/>
        </p:nvCxnSpPr>
        <p:spPr>
          <a:xfrm flipV="1">
            <a:off x="8443595" y="4389755"/>
            <a:ext cx="977265" cy="784860"/>
          </a:xfrm>
          <a:prstGeom prst="bentConnector3">
            <a:avLst>
              <a:gd name="adj1" fmla="val 50032"/>
            </a:avLst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9" idx="0"/>
            <a:endCxn id="20" idx="2"/>
          </p:cNvCxnSpPr>
          <p:nvPr/>
        </p:nvCxnSpPr>
        <p:spPr>
          <a:xfrm flipV="1">
            <a:off x="10582910" y="2378075"/>
            <a:ext cx="0" cy="161544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6083935" y="3766820"/>
            <a:ext cx="0" cy="14077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Text Box 41"/>
          <p:cNvSpPr txBox="1"/>
          <p:nvPr/>
        </p:nvSpPr>
        <p:spPr>
          <a:xfrm>
            <a:off x="976630" y="2989580"/>
            <a:ext cx="596900" cy="37642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任意多边形: 形状 138"/>
          <p:cNvSpPr/>
          <p:nvPr>
            <p:custDataLst>
              <p:tags r:id="rId1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Preprocessing</a:t>
            </a:r>
            <a:endParaRPr lang="en-US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27" name="Flowchart: Magnetic Disk 26"/>
          <p:cNvSpPr/>
          <p:nvPr/>
        </p:nvSpPr>
        <p:spPr>
          <a:xfrm>
            <a:off x="1264920" y="1532255"/>
            <a:ext cx="1247775" cy="914400"/>
          </a:xfrm>
          <a:prstGeom prst="flowChartMagneticDisk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ViSpam</a:t>
            </a:r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3513455" y="1532255"/>
            <a:ext cx="1490345" cy="914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Lowercase</a:t>
            </a:r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8557895" y="1532255"/>
            <a:ext cx="1490345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Biến đổi chữ viết tắt</a:t>
            </a:r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8557895" y="3875405"/>
            <a:ext cx="1490345" cy="9144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Tách từ</a:t>
            </a:r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6113145" y="1532255"/>
            <a:ext cx="1490345" cy="91440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Loại bỏ Emoji, Icon</a:t>
            </a:r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6113145" y="3875405"/>
            <a:ext cx="1490345" cy="9144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Loại bỏ stop words</a:t>
            </a:r>
            <a:endParaRPr lang="en-US"/>
          </a:p>
        </p:txBody>
      </p:sp>
      <p:sp>
        <p:nvSpPr>
          <p:cNvPr id="33" name="Flowchart: Magnetic Disk 32"/>
          <p:cNvSpPr/>
          <p:nvPr/>
        </p:nvSpPr>
        <p:spPr>
          <a:xfrm>
            <a:off x="3634740" y="3875405"/>
            <a:ext cx="1247775" cy="914400"/>
          </a:xfrm>
          <a:prstGeom prst="flowChartMagneticDisk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Dữ liệu sạch</a:t>
            </a:r>
            <a:endParaRPr lang="en-US"/>
          </a:p>
        </p:txBody>
      </p:sp>
      <p:cxnSp>
        <p:nvCxnSpPr>
          <p:cNvPr id="34" name="Straight Arrow Connector 33"/>
          <p:cNvCxnSpPr>
            <a:stCxn id="27" idx="4"/>
            <a:endCxn id="28" idx="1"/>
          </p:cNvCxnSpPr>
          <p:nvPr/>
        </p:nvCxnSpPr>
        <p:spPr>
          <a:xfrm>
            <a:off x="2512695" y="1989455"/>
            <a:ext cx="100076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8" idx="3"/>
            <a:endCxn id="31" idx="1"/>
          </p:cNvCxnSpPr>
          <p:nvPr/>
        </p:nvCxnSpPr>
        <p:spPr>
          <a:xfrm>
            <a:off x="5003800" y="1989455"/>
            <a:ext cx="1109345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1" idx="3"/>
            <a:endCxn id="29" idx="1"/>
          </p:cNvCxnSpPr>
          <p:nvPr/>
        </p:nvCxnSpPr>
        <p:spPr>
          <a:xfrm>
            <a:off x="7603490" y="1989455"/>
            <a:ext cx="954405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9" idx="2"/>
            <a:endCxn id="30" idx="0"/>
          </p:cNvCxnSpPr>
          <p:nvPr/>
        </p:nvCxnSpPr>
        <p:spPr>
          <a:xfrm>
            <a:off x="9303385" y="2446655"/>
            <a:ext cx="0" cy="14287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0" idx="1"/>
            <a:endCxn id="32" idx="3"/>
          </p:cNvCxnSpPr>
          <p:nvPr/>
        </p:nvCxnSpPr>
        <p:spPr>
          <a:xfrm flipH="1">
            <a:off x="7603490" y="4332605"/>
            <a:ext cx="954405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2" idx="1"/>
            <a:endCxn id="33" idx="4"/>
          </p:cNvCxnSpPr>
          <p:nvPr/>
        </p:nvCxnSpPr>
        <p:spPr>
          <a:xfrm flipH="1">
            <a:off x="4882515" y="4332605"/>
            <a:ext cx="123063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687705" y="2476500"/>
          <a:ext cx="16992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15"/>
                <a:gridCol w="424815"/>
                <a:gridCol w="424815"/>
                <a:gridCol w="42481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181100" y="2108200"/>
            <a:ext cx="1088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dime</a:t>
            </a:r>
            <a:endParaRPr lang="en-US"/>
          </a:p>
        </p:txBody>
      </p:sp>
      <p:sp>
        <p:nvSpPr>
          <p:cNvPr id="91" name="Rectangles 90"/>
          <p:cNvSpPr/>
          <p:nvPr/>
        </p:nvSpPr>
        <p:spPr>
          <a:xfrm>
            <a:off x="3235325" y="88646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2" name="Rectangles 91"/>
          <p:cNvSpPr/>
          <p:nvPr/>
        </p:nvSpPr>
        <p:spPr>
          <a:xfrm>
            <a:off x="3235325" y="104584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3" name="Rectangles 92"/>
          <p:cNvSpPr/>
          <p:nvPr/>
        </p:nvSpPr>
        <p:spPr>
          <a:xfrm>
            <a:off x="3235325" y="121158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4" name="Rectangles 93"/>
          <p:cNvSpPr/>
          <p:nvPr/>
        </p:nvSpPr>
        <p:spPr>
          <a:xfrm>
            <a:off x="3235325" y="136207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5" name="Rectangles 94"/>
          <p:cNvSpPr/>
          <p:nvPr/>
        </p:nvSpPr>
        <p:spPr>
          <a:xfrm>
            <a:off x="3235325" y="151765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6" name="Rectangles 95"/>
          <p:cNvSpPr/>
          <p:nvPr/>
        </p:nvSpPr>
        <p:spPr>
          <a:xfrm>
            <a:off x="3235325" y="167830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7" name="Rectangles 96"/>
          <p:cNvSpPr/>
          <p:nvPr/>
        </p:nvSpPr>
        <p:spPr>
          <a:xfrm>
            <a:off x="3235325" y="183896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8" name="Rectangles 97"/>
          <p:cNvSpPr/>
          <p:nvPr/>
        </p:nvSpPr>
        <p:spPr>
          <a:xfrm>
            <a:off x="3362325" y="101346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9" name="Rectangles 98"/>
          <p:cNvSpPr/>
          <p:nvPr/>
        </p:nvSpPr>
        <p:spPr>
          <a:xfrm>
            <a:off x="3362325" y="117284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0" name="Rectangles 99"/>
          <p:cNvSpPr/>
          <p:nvPr/>
        </p:nvSpPr>
        <p:spPr>
          <a:xfrm>
            <a:off x="3362325" y="133858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1" name="Rectangles 100"/>
          <p:cNvSpPr/>
          <p:nvPr/>
        </p:nvSpPr>
        <p:spPr>
          <a:xfrm>
            <a:off x="3362325" y="148907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2" name="Rectangles 101"/>
          <p:cNvSpPr/>
          <p:nvPr/>
        </p:nvSpPr>
        <p:spPr>
          <a:xfrm>
            <a:off x="3362325" y="164465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3" name="Rectangles 102"/>
          <p:cNvSpPr/>
          <p:nvPr/>
        </p:nvSpPr>
        <p:spPr>
          <a:xfrm>
            <a:off x="3362325" y="180530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" name="Rectangles 103"/>
          <p:cNvSpPr/>
          <p:nvPr/>
        </p:nvSpPr>
        <p:spPr>
          <a:xfrm>
            <a:off x="3362325" y="196596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5" name="Rectangles 104"/>
          <p:cNvSpPr/>
          <p:nvPr/>
        </p:nvSpPr>
        <p:spPr>
          <a:xfrm>
            <a:off x="3489325" y="114046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6" name="Rectangles 105"/>
          <p:cNvSpPr/>
          <p:nvPr/>
        </p:nvSpPr>
        <p:spPr>
          <a:xfrm>
            <a:off x="3489325" y="129984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7" name="Rectangles 106"/>
          <p:cNvSpPr/>
          <p:nvPr/>
        </p:nvSpPr>
        <p:spPr>
          <a:xfrm>
            <a:off x="3489325" y="146558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8" name="Rectangles 107"/>
          <p:cNvSpPr/>
          <p:nvPr/>
        </p:nvSpPr>
        <p:spPr>
          <a:xfrm>
            <a:off x="3489325" y="161607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9" name="Rectangles 108"/>
          <p:cNvSpPr/>
          <p:nvPr/>
        </p:nvSpPr>
        <p:spPr>
          <a:xfrm>
            <a:off x="3489325" y="177165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0" name="Rectangles 109"/>
          <p:cNvSpPr/>
          <p:nvPr/>
        </p:nvSpPr>
        <p:spPr>
          <a:xfrm>
            <a:off x="3489325" y="193230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1" name="Rectangles 110"/>
          <p:cNvSpPr/>
          <p:nvPr/>
        </p:nvSpPr>
        <p:spPr>
          <a:xfrm>
            <a:off x="3489325" y="209296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2" name="Rectangles 111"/>
          <p:cNvSpPr/>
          <p:nvPr/>
        </p:nvSpPr>
        <p:spPr>
          <a:xfrm>
            <a:off x="3235325" y="50323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3" name="Rectangles 112"/>
          <p:cNvSpPr/>
          <p:nvPr/>
        </p:nvSpPr>
        <p:spPr>
          <a:xfrm>
            <a:off x="3235325" y="51917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4" name="Rectangles 113"/>
          <p:cNvSpPr/>
          <p:nvPr/>
        </p:nvSpPr>
        <p:spPr>
          <a:xfrm>
            <a:off x="3235325" y="53574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5" name="Rectangles 114"/>
          <p:cNvSpPr/>
          <p:nvPr/>
        </p:nvSpPr>
        <p:spPr>
          <a:xfrm>
            <a:off x="3235325" y="550799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6" name="Rectangles 115"/>
          <p:cNvSpPr/>
          <p:nvPr/>
        </p:nvSpPr>
        <p:spPr>
          <a:xfrm>
            <a:off x="3235325" y="566356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7" name="Rectangles 116"/>
          <p:cNvSpPr/>
          <p:nvPr/>
        </p:nvSpPr>
        <p:spPr>
          <a:xfrm>
            <a:off x="3235325" y="582422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8" name="Rectangles 117"/>
          <p:cNvSpPr/>
          <p:nvPr/>
        </p:nvSpPr>
        <p:spPr>
          <a:xfrm>
            <a:off x="3235325" y="59848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9" name="Rectangles 118"/>
          <p:cNvSpPr/>
          <p:nvPr/>
        </p:nvSpPr>
        <p:spPr>
          <a:xfrm>
            <a:off x="3235325" y="50323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0" name="Rectangles 119"/>
          <p:cNvSpPr/>
          <p:nvPr/>
        </p:nvSpPr>
        <p:spPr>
          <a:xfrm>
            <a:off x="3235325" y="51917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1" name="Rectangles 120"/>
          <p:cNvSpPr/>
          <p:nvPr/>
        </p:nvSpPr>
        <p:spPr>
          <a:xfrm>
            <a:off x="3235325" y="53574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2" name="Rectangles 121"/>
          <p:cNvSpPr/>
          <p:nvPr/>
        </p:nvSpPr>
        <p:spPr>
          <a:xfrm>
            <a:off x="3235325" y="550799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3" name="Rectangles 122"/>
          <p:cNvSpPr/>
          <p:nvPr/>
        </p:nvSpPr>
        <p:spPr>
          <a:xfrm>
            <a:off x="3235325" y="566356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4" name="Rectangles 123"/>
          <p:cNvSpPr/>
          <p:nvPr/>
        </p:nvSpPr>
        <p:spPr>
          <a:xfrm>
            <a:off x="3235325" y="582422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5" name="Rectangles 124"/>
          <p:cNvSpPr/>
          <p:nvPr/>
        </p:nvSpPr>
        <p:spPr>
          <a:xfrm>
            <a:off x="3235325" y="59848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6" name="Rectangles 125"/>
          <p:cNvSpPr/>
          <p:nvPr/>
        </p:nvSpPr>
        <p:spPr>
          <a:xfrm>
            <a:off x="3235325" y="50323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7" name="Rectangles 126"/>
          <p:cNvSpPr/>
          <p:nvPr/>
        </p:nvSpPr>
        <p:spPr>
          <a:xfrm>
            <a:off x="3235325" y="51917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8" name="Rectangles 127"/>
          <p:cNvSpPr/>
          <p:nvPr/>
        </p:nvSpPr>
        <p:spPr>
          <a:xfrm>
            <a:off x="3235325" y="53574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9" name="Rectangles 128"/>
          <p:cNvSpPr/>
          <p:nvPr/>
        </p:nvSpPr>
        <p:spPr>
          <a:xfrm>
            <a:off x="3235325" y="550799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0" name="Rectangles 129"/>
          <p:cNvSpPr/>
          <p:nvPr/>
        </p:nvSpPr>
        <p:spPr>
          <a:xfrm>
            <a:off x="3235325" y="566356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1" name="Rectangles 130"/>
          <p:cNvSpPr/>
          <p:nvPr/>
        </p:nvSpPr>
        <p:spPr>
          <a:xfrm>
            <a:off x="3235325" y="582422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2" name="Rectangles 131"/>
          <p:cNvSpPr/>
          <p:nvPr/>
        </p:nvSpPr>
        <p:spPr>
          <a:xfrm>
            <a:off x="3235325" y="59848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3" name="Rectangles 132"/>
          <p:cNvSpPr/>
          <p:nvPr/>
        </p:nvSpPr>
        <p:spPr>
          <a:xfrm>
            <a:off x="3235325" y="26962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4" name="Rectangles 133"/>
          <p:cNvSpPr/>
          <p:nvPr/>
        </p:nvSpPr>
        <p:spPr>
          <a:xfrm>
            <a:off x="3235325" y="285559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5" name="Rectangles 134"/>
          <p:cNvSpPr/>
          <p:nvPr/>
        </p:nvSpPr>
        <p:spPr>
          <a:xfrm>
            <a:off x="3235325" y="302133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6" name="Rectangles 135"/>
          <p:cNvSpPr/>
          <p:nvPr/>
        </p:nvSpPr>
        <p:spPr>
          <a:xfrm>
            <a:off x="3235325" y="317182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7" name="Rectangles 136"/>
          <p:cNvSpPr/>
          <p:nvPr/>
        </p:nvSpPr>
        <p:spPr>
          <a:xfrm>
            <a:off x="3235325" y="332740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8" name="Rectangles 137"/>
          <p:cNvSpPr/>
          <p:nvPr/>
        </p:nvSpPr>
        <p:spPr>
          <a:xfrm>
            <a:off x="3235325" y="348805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9" name="Rectangles 138"/>
          <p:cNvSpPr/>
          <p:nvPr/>
        </p:nvSpPr>
        <p:spPr>
          <a:xfrm>
            <a:off x="3235325" y="36487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0" name="Rectangles 139"/>
          <p:cNvSpPr/>
          <p:nvPr/>
        </p:nvSpPr>
        <p:spPr>
          <a:xfrm>
            <a:off x="3235325" y="26962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1" name="Rectangles 140"/>
          <p:cNvSpPr/>
          <p:nvPr/>
        </p:nvSpPr>
        <p:spPr>
          <a:xfrm>
            <a:off x="3235325" y="285559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2" name="Rectangles 141"/>
          <p:cNvSpPr/>
          <p:nvPr/>
        </p:nvSpPr>
        <p:spPr>
          <a:xfrm>
            <a:off x="3235325" y="302133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3" name="Rectangles 142"/>
          <p:cNvSpPr/>
          <p:nvPr/>
        </p:nvSpPr>
        <p:spPr>
          <a:xfrm>
            <a:off x="3235325" y="317182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4" name="Rectangles 143"/>
          <p:cNvSpPr/>
          <p:nvPr/>
        </p:nvSpPr>
        <p:spPr>
          <a:xfrm>
            <a:off x="3235325" y="332740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5" name="Rectangles 144"/>
          <p:cNvSpPr/>
          <p:nvPr/>
        </p:nvSpPr>
        <p:spPr>
          <a:xfrm>
            <a:off x="3235325" y="348805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6" name="Rectangles 145"/>
          <p:cNvSpPr/>
          <p:nvPr/>
        </p:nvSpPr>
        <p:spPr>
          <a:xfrm>
            <a:off x="3235325" y="36487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7" name="Rectangles 146"/>
          <p:cNvSpPr/>
          <p:nvPr/>
        </p:nvSpPr>
        <p:spPr>
          <a:xfrm>
            <a:off x="3235325" y="26962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8" name="Rectangles 147"/>
          <p:cNvSpPr/>
          <p:nvPr/>
        </p:nvSpPr>
        <p:spPr>
          <a:xfrm>
            <a:off x="3235325" y="285559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9" name="Rectangles 148"/>
          <p:cNvSpPr/>
          <p:nvPr/>
        </p:nvSpPr>
        <p:spPr>
          <a:xfrm>
            <a:off x="3235325" y="302133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0" name="Rectangles 149"/>
          <p:cNvSpPr/>
          <p:nvPr/>
        </p:nvSpPr>
        <p:spPr>
          <a:xfrm>
            <a:off x="3235325" y="317182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1" name="Rectangles 150"/>
          <p:cNvSpPr/>
          <p:nvPr/>
        </p:nvSpPr>
        <p:spPr>
          <a:xfrm>
            <a:off x="3235325" y="332740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2" name="Rectangles 151"/>
          <p:cNvSpPr/>
          <p:nvPr/>
        </p:nvSpPr>
        <p:spPr>
          <a:xfrm>
            <a:off x="3235325" y="348805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3" name="Rectangles 152"/>
          <p:cNvSpPr/>
          <p:nvPr/>
        </p:nvSpPr>
        <p:spPr>
          <a:xfrm>
            <a:off x="3235325" y="36487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4" name="Rectangles 153"/>
          <p:cNvSpPr/>
          <p:nvPr/>
        </p:nvSpPr>
        <p:spPr>
          <a:xfrm>
            <a:off x="3362325" y="28232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5" name="Rectangles 154"/>
          <p:cNvSpPr/>
          <p:nvPr/>
        </p:nvSpPr>
        <p:spPr>
          <a:xfrm>
            <a:off x="3362325" y="298259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6" name="Rectangles 155"/>
          <p:cNvSpPr/>
          <p:nvPr/>
        </p:nvSpPr>
        <p:spPr>
          <a:xfrm>
            <a:off x="3362325" y="314833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7" name="Rectangles 156"/>
          <p:cNvSpPr/>
          <p:nvPr/>
        </p:nvSpPr>
        <p:spPr>
          <a:xfrm>
            <a:off x="3362325" y="329882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8" name="Rectangles 157"/>
          <p:cNvSpPr/>
          <p:nvPr/>
        </p:nvSpPr>
        <p:spPr>
          <a:xfrm>
            <a:off x="3362325" y="345440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9" name="Rectangles 158"/>
          <p:cNvSpPr/>
          <p:nvPr/>
        </p:nvSpPr>
        <p:spPr>
          <a:xfrm>
            <a:off x="3362325" y="361505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0" name="Rectangles 159"/>
          <p:cNvSpPr/>
          <p:nvPr/>
        </p:nvSpPr>
        <p:spPr>
          <a:xfrm>
            <a:off x="3362325" y="37757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1" name="Rectangles 160"/>
          <p:cNvSpPr/>
          <p:nvPr/>
        </p:nvSpPr>
        <p:spPr>
          <a:xfrm>
            <a:off x="3362325" y="28232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2" name="Rectangles 161"/>
          <p:cNvSpPr/>
          <p:nvPr/>
        </p:nvSpPr>
        <p:spPr>
          <a:xfrm>
            <a:off x="3362325" y="298259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3" name="Rectangles 162"/>
          <p:cNvSpPr/>
          <p:nvPr/>
        </p:nvSpPr>
        <p:spPr>
          <a:xfrm>
            <a:off x="3362325" y="314833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4" name="Rectangles 163"/>
          <p:cNvSpPr/>
          <p:nvPr/>
        </p:nvSpPr>
        <p:spPr>
          <a:xfrm>
            <a:off x="3362325" y="329882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5" name="Rectangles 164"/>
          <p:cNvSpPr/>
          <p:nvPr/>
        </p:nvSpPr>
        <p:spPr>
          <a:xfrm>
            <a:off x="3362325" y="345440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6" name="Rectangles 165"/>
          <p:cNvSpPr/>
          <p:nvPr/>
        </p:nvSpPr>
        <p:spPr>
          <a:xfrm>
            <a:off x="3362325" y="361505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7" name="Rectangles 166"/>
          <p:cNvSpPr/>
          <p:nvPr/>
        </p:nvSpPr>
        <p:spPr>
          <a:xfrm>
            <a:off x="3362325" y="37757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8" name="Rectangles 167"/>
          <p:cNvSpPr/>
          <p:nvPr/>
        </p:nvSpPr>
        <p:spPr>
          <a:xfrm>
            <a:off x="3362325" y="28232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9" name="Rectangles 168"/>
          <p:cNvSpPr/>
          <p:nvPr/>
        </p:nvSpPr>
        <p:spPr>
          <a:xfrm>
            <a:off x="3362325" y="298259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0" name="Rectangles 169"/>
          <p:cNvSpPr/>
          <p:nvPr/>
        </p:nvSpPr>
        <p:spPr>
          <a:xfrm>
            <a:off x="3362325" y="314833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1" name="Rectangles 170"/>
          <p:cNvSpPr/>
          <p:nvPr/>
        </p:nvSpPr>
        <p:spPr>
          <a:xfrm>
            <a:off x="3362325" y="329882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2" name="Rectangles 171"/>
          <p:cNvSpPr/>
          <p:nvPr/>
        </p:nvSpPr>
        <p:spPr>
          <a:xfrm>
            <a:off x="3362325" y="345440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3" name="Rectangles 172"/>
          <p:cNvSpPr/>
          <p:nvPr/>
        </p:nvSpPr>
        <p:spPr>
          <a:xfrm>
            <a:off x="3362325" y="361505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4" name="Rectangles 173"/>
          <p:cNvSpPr/>
          <p:nvPr/>
        </p:nvSpPr>
        <p:spPr>
          <a:xfrm>
            <a:off x="3362325" y="37757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5" name="Rectangles 174"/>
          <p:cNvSpPr/>
          <p:nvPr/>
        </p:nvSpPr>
        <p:spPr>
          <a:xfrm>
            <a:off x="3489325" y="29502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6" name="Rectangles 175"/>
          <p:cNvSpPr/>
          <p:nvPr/>
        </p:nvSpPr>
        <p:spPr>
          <a:xfrm>
            <a:off x="3489325" y="310959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7" name="Rectangles 176"/>
          <p:cNvSpPr/>
          <p:nvPr/>
        </p:nvSpPr>
        <p:spPr>
          <a:xfrm>
            <a:off x="3489325" y="327533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8" name="Rectangles 177"/>
          <p:cNvSpPr/>
          <p:nvPr/>
        </p:nvSpPr>
        <p:spPr>
          <a:xfrm>
            <a:off x="3489325" y="342582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9" name="Rectangles 178"/>
          <p:cNvSpPr/>
          <p:nvPr/>
        </p:nvSpPr>
        <p:spPr>
          <a:xfrm>
            <a:off x="3489325" y="358140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0" name="Rectangles 179"/>
          <p:cNvSpPr/>
          <p:nvPr/>
        </p:nvSpPr>
        <p:spPr>
          <a:xfrm>
            <a:off x="3489325" y="374205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1" name="Rectangles 180"/>
          <p:cNvSpPr/>
          <p:nvPr/>
        </p:nvSpPr>
        <p:spPr>
          <a:xfrm>
            <a:off x="3489325" y="39027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2" name="Rectangles 181"/>
          <p:cNvSpPr/>
          <p:nvPr/>
        </p:nvSpPr>
        <p:spPr>
          <a:xfrm>
            <a:off x="3489325" y="29502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3" name="Rectangles 182"/>
          <p:cNvSpPr/>
          <p:nvPr/>
        </p:nvSpPr>
        <p:spPr>
          <a:xfrm>
            <a:off x="3489325" y="310959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4" name="Rectangles 183"/>
          <p:cNvSpPr/>
          <p:nvPr/>
        </p:nvSpPr>
        <p:spPr>
          <a:xfrm>
            <a:off x="3489325" y="327533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5" name="Rectangles 184"/>
          <p:cNvSpPr/>
          <p:nvPr/>
        </p:nvSpPr>
        <p:spPr>
          <a:xfrm>
            <a:off x="3489325" y="342582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6" name="Rectangles 185"/>
          <p:cNvSpPr/>
          <p:nvPr/>
        </p:nvSpPr>
        <p:spPr>
          <a:xfrm>
            <a:off x="3489325" y="358140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7" name="Rectangles 186"/>
          <p:cNvSpPr/>
          <p:nvPr/>
        </p:nvSpPr>
        <p:spPr>
          <a:xfrm>
            <a:off x="3489325" y="374205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8" name="Rectangles 187"/>
          <p:cNvSpPr/>
          <p:nvPr/>
        </p:nvSpPr>
        <p:spPr>
          <a:xfrm>
            <a:off x="3489325" y="39027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9" name="Rectangles 188"/>
          <p:cNvSpPr/>
          <p:nvPr/>
        </p:nvSpPr>
        <p:spPr>
          <a:xfrm>
            <a:off x="3489325" y="29502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0" name="Rectangles 189"/>
          <p:cNvSpPr/>
          <p:nvPr/>
        </p:nvSpPr>
        <p:spPr>
          <a:xfrm>
            <a:off x="3489325" y="310959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1" name="Rectangles 190"/>
          <p:cNvSpPr/>
          <p:nvPr/>
        </p:nvSpPr>
        <p:spPr>
          <a:xfrm>
            <a:off x="3489325" y="327533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2" name="Rectangles 191"/>
          <p:cNvSpPr/>
          <p:nvPr/>
        </p:nvSpPr>
        <p:spPr>
          <a:xfrm>
            <a:off x="3489325" y="342582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3" name="Rectangles 192"/>
          <p:cNvSpPr/>
          <p:nvPr/>
        </p:nvSpPr>
        <p:spPr>
          <a:xfrm>
            <a:off x="3489325" y="358140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4" name="Rectangles 193"/>
          <p:cNvSpPr/>
          <p:nvPr/>
        </p:nvSpPr>
        <p:spPr>
          <a:xfrm>
            <a:off x="3489325" y="3742055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5" name="Rectangles 194"/>
          <p:cNvSpPr/>
          <p:nvPr/>
        </p:nvSpPr>
        <p:spPr>
          <a:xfrm>
            <a:off x="3489325" y="3902710"/>
            <a:ext cx="233680" cy="159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6" name="Rectangles 195"/>
          <p:cNvSpPr/>
          <p:nvPr/>
        </p:nvSpPr>
        <p:spPr>
          <a:xfrm>
            <a:off x="3362325" y="51593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7" name="Rectangles 196"/>
          <p:cNvSpPr/>
          <p:nvPr/>
        </p:nvSpPr>
        <p:spPr>
          <a:xfrm>
            <a:off x="3362325" y="53187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8" name="Rectangles 197"/>
          <p:cNvSpPr/>
          <p:nvPr/>
        </p:nvSpPr>
        <p:spPr>
          <a:xfrm>
            <a:off x="3362325" y="54844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9" name="Rectangles 198"/>
          <p:cNvSpPr/>
          <p:nvPr/>
        </p:nvSpPr>
        <p:spPr>
          <a:xfrm>
            <a:off x="3362325" y="563499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0" name="Rectangles 199"/>
          <p:cNvSpPr/>
          <p:nvPr/>
        </p:nvSpPr>
        <p:spPr>
          <a:xfrm>
            <a:off x="3362325" y="579056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1" name="Rectangles 200"/>
          <p:cNvSpPr/>
          <p:nvPr/>
        </p:nvSpPr>
        <p:spPr>
          <a:xfrm>
            <a:off x="3362325" y="595122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2" name="Rectangles 201"/>
          <p:cNvSpPr/>
          <p:nvPr/>
        </p:nvSpPr>
        <p:spPr>
          <a:xfrm>
            <a:off x="3362325" y="61118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3" name="Rectangles 202"/>
          <p:cNvSpPr/>
          <p:nvPr/>
        </p:nvSpPr>
        <p:spPr>
          <a:xfrm>
            <a:off x="3362325" y="51593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4" name="Rectangles 203"/>
          <p:cNvSpPr/>
          <p:nvPr/>
        </p:nvSpPr>
        <p:spPr>
          <a:xfrm>
            <a:off x="3362325" y="53187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5" name="Rectangles 204"/>
          <p:cNvSpPr/>
          <p:nvPr/>
        </p:nvSpPr>
        <p:spPr>
          <a:xfrm>
            <a:off x="3362325" y="54844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6" name="Rectangles 205"/>
          <p:cNvSpPr/>
          <p:nvPr/>
        </p:nvSpPr>
        <p:spPr>
          <a:xfrm>
            <a:off x="3362325" y="563499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7" name="Rectangles 206"/>
          <p:cNvSpPr/>
          <p:nvPr/>
        </p:nvSpPr>
        <p:spPr>
          <a:xfrm>
            <a:off x="3362325" y="579056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8" name="Rectangles 207"/>
          <p:cNvSpPr/>
          <p:nvPr/>
        </p:nvSpPr>
        <p:spPr>
          <a:xfrm>
            <a:off x="3362325" y="595122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9" name="Rectangles 208"/>
          <p:cNvSpPr/>
          <p:nvPr/>
        </p:nvSpPr>
        <p:spPr>
          <a:xfrm>
            <a:off x="3362325" y="61118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0" name="Rectangles 209"/>
          <p:cNvSpPr/>
          <p:nvPr/>
        </p:nvSpPr>
        <p:spPr>
          <a:xfrm>
            <a:off x="3362325" y="51593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1" name="Rectangles 210"/>
          <p:cNvSpPr/>
          <p:nvPr/>
        </p:nvSpPr>
        <p:spPr>
          <a:xfrm>
            <a:off x="3362325" y="53187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2" name="Rectangles 211"/>
          <p:cNvSpPr/>
          <p:nvPr/>
        </p:nvSpPr>
        <p:spPr>
          <a:xfrm>
            <a:off x="3362325" y="54844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3" name="Rectangles 212"/>
          <p:cNvSpPr/>
          <p:nvPr/>
        </p:nvSpPr>
        <p:spPr>
          <a:xfrm>
            <a:off x="3362325" y="563499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4" name="Rectangles 213"/>
          <p:cNvSpPr/>
          <p:nvPr/>
        </p:nvSpPr>
        <p:spPr>
          <a:xfrm>
            <a:off x="3362325" y="579056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5" name="Rectangles 214"/>
          <p:cNvSpPr/>
          <p:nvPr/>
        </p:nvSpPr>
        <p:spPr>
          <a:xfrm>
            <a:off x="3362325" y="595122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6" name="Rectangles 215"/>
          <p:cNvSpPr/>
          <p:nvPr/>
        </p:nvSpPr>
        <p:spPr>
          <a:xfrm>
            <a:off x="3362325" y="61118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7" name="Rectangles 216"/>
          <p:cNvSpPr/>
          <p:nvPr/>
        </p:nvSpPr>
        <p:spPr>
          <a:xfrm>
            <a:off x="3489325" y="52863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8" name="Rectangles 217"/>
          <p:cNvSpPr/>
          <p:nvPr/>
        </p:nvSpPr>
        <p:spPr>
          <a:xfrm>
            <a:off x="3489325" y="54457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9" name="Rectangles 218"/>
          <p:cNvSpPr/>
          <p:nvPr/>
        </p:nvSpPr>
        <p:spPr>
          <a:xfrm>
            <a:off x="3489325" y="56114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0" name="Rectangles 219"/>
          <p:cNvSpPr/>
          <p:nvPr/>
        </p:nvSpPr>
        <p:spPr>
          <a:xfrm>
            <a:off x="3489325" y="576199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1" name="Rectangles 220"/>
          <p:cNvSpPr/>
          <p:nvPr/>
        </p:nvSpPr>
        <p:spPr>
          <a:xfrm>
            <a:off x="3489325" y="591756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2" name="Rectangles 221"/>
          <p:cNvSpPr/>
          <p:nvPr/>
        </p:nvSpPr>
        <p:spPr>
          <a:xfrm>
            <a:off x="3489325" y="607822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3" name="Rectangles 222"/>
          <p:cNvSpPr/>
          <p:nvPr/>
        </p:nvSpPr>
        <p:spPr>
          <a:xfrm>
            <a:off x="3489325" y="62388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4" name="Rectangles 223"/>
          <p:cNvSpPr/>
          <p:nvPr/>
        </p:nvSpPr>
        <p:spPr>
          <a:xfrm>
            <a:off x="3489325" y="52863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5" name="Rectangles 224"/>
          <p:cNvSpPr/>
          <p:nvPr/>
        </p:nvSpPr>
        <p:spPr>
          <a:xfrm>
            <a:off x="3489325" y="54457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6" name="Rectangles 225"/>
          <p:cNvSpPr/>
          <p:nvPr/>
        </p:nvSpPr>
        <p:spPr>
          <a:xfrm>
            <a:off x="3489325" y="56114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7" name="Rectangles 226"/>
          <p:cNvSpPr/>
          <p:nvPr/>
        </p:nvSpPr>
        <p:spPr>
          <a:xfrm>
            <a:off x="3489325" y="576199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8" name="Rectangles 227"/>
          <p:cNvSpPr/>
          <p:nvPr/>
        </p:nvSpPr>
        <p:spPr>
          <a:xfrm>
            <a:off x="3489325" y="591756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9" name="Rectangles 228"/>
          <p:cNvSpPr/>
          <p:nvPr/>
        </p:nvSpPr>
        <p:spPr>
          <a:xfrm>
            <a:off x="3489325" y="607822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0" name="Rectangles 229"/>
          <p:cNvSpPr/>
          <p:nvPr/>
        </p:nvSpPr>
        <p:spPr>
          <a:xfrm>
            <a:off x="3489325" y="62388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1" name="Rectangles 230"/>
          <p:cNvSpPr/>
          <p:nvPr/>
        </p:nvSpPr>
        <p:spPr>
          <a:xfrm>
            <a:off x="3489325" y="52863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2" name="Rectangles 231"/>
          <p:cNvSpPr/>
          <p:nvPr/>
        </p:nvSpPr>
        <p:spPr>
          <a:xfrm>
            <a:off x="3489325" y="54457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3" name="Rectangles 232"/>
          <p:cNvSpPr/>
          <p:nvPr/>
        </p:nvSpPr>
        <p:spPr>
          <a:xfrm>
            <a:off x="3489325" y="56114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4" name="Rectangles 233"/>
          <p:cNvSpPr/>
          <p:nvPr/>
        </p:nvSpPr>
        <p:spPr>
          <a:xfrm>
            <a:off x="3489325" y="576199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5" name="Rectangles 234"/>
          <p:cNvSpPr/>
          <p:nvPr/>
        </p:nvSpPr>
        <p:spPr>
          <a:xfrm>
            <a:off x="3489325" y="591756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6" name="Rectangles 235"/>
          <p:cNvSpPr/>
          <p:nvPr/>
        </p:nvSpPr>
        <p:spPr>
          <a:xfrm>
            <a:off x="3489325" y="607822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7" name="Rectangles 236"/>
          <p:cNvSpPr/>
          <p:nvPr/>
        </p:nvSpPr>
        <p:spPr>
          <a:xfrm>
            <a:off x="3489325" y="62388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38" name="Straight Arrow Connector 237"/>
          <p:cNvCxnSpPr/>
          <p:nvPr/>
        </p:nvCxnSpPr>
        <p:spPr>
          <a:xfrm flipV="1">
            <a:off x="2421255" y="2002790"/>
            <a:ext cx="639445" cy="7340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9" name="Straight Arrow Connector 238"/>
          <p:cNvCxnSpPr/>
          <p:nvPr/>
        </p:nvCxnSpPr>
        <p:spPr>
          <a:xfrm>
            <a:off x="2421255" y="3876040"/>
            <a:ext cx="677545" cy="10528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0" name="Straight Arrow Connector 239"/>
          <p:cNvCxnSpPr/>
          <p:nvPr/>
        </p:nvCxnSpPr>
        <p:spPr>
          <a:xfrm flipV="1">
            <a:off x="2421255" y="3432810"/>
            <a:ext cx="748665" cy="38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1" name="Text Box 240"/>
          <p:cNvSpPr txBox="1"/>
          <p:nvPr/>
        </p:nvSpPr>
        <p:spPr>
          <a:xfrm>
            <a:off x="2145030" y="215900"/>
            <a:ext cx="1344295" cy="340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Convolution</a:t>
            </a:r>
            <a:endParaRPr lang="en-US"/>
          </a:p>
        </p:txBody>
      </p:sp>
      <p:sp>
        <p:nvSpPr>
          <p:cNvPr id="243" name="Text Box 242"/>
          <p:cNvSpPr txBox="1"/>
          <p:nvPr/>
        </p:nvSpPr>
        <p:spPr>
          <a:xfrm>
            <a:off x="3862070" y="215900"/>
            <a:ext cx="1344295" cy="340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Pooling</a:t>
            </a:r>
            <a:endParaRPr lang="en-US"/>
          </a:p>
        </p:txBody>
      </p:sp>
      <p:sp>
        <p:nvSpPr>
          <p:cNvPr id="244" name="Text Box 243"/>
          <p:cNvSpPr txBox="1"/>
          <p:nvPr/>
        </p:nvSpPr>
        <p:spPr>
          <a:xfrm>
            <a:off x="3295015" y="556260"/>
            <a:ext cx="809625" cy="38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99</a:t>
            </a:r>
            <a:endParaRPr lang="en-US"/>
          </a:p>
        </p:txBody>
      </p:sp>
      <p:sp>
        <p:nvSpPr>
          <p:cNvPr id="245" name="Text Box 244"/>
          <p:cNvSpPr txBox="1"/>
          <p:nvPr/>
        </p:nvSpPr>
        <p:spPr>
          <a:xfrm>
            <a:off x="3295015" y="2310765"/>
            <a:ext cx="809625" cy="38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98</a:t>
            </a:r>
            <a:endParaRPr lang="en-US"/>
          </a:p>
        </p:txBody>
      </p:sp>
      <p:sp>
        <p:nvSpPr>
          <p:cNvPr id="247" name="Text Box 246"/>
          <p:cNvSpPr txBox="1"/>
          <p:nvPr/>
        </p:nvSpPr>
        <p:spPr>
          <a:xfrm>
            <a:off x="3295015" y="4646930"/>
            <a:ext cx="809625" cy="38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96</a:t>
            </a:r>
            <a:endParaRPr lang="en-US"/>
          </a:p>
        </p:txBody>
      </p:sp>
      <p:sp>
        <p:nvSpPr>
          <p:cNvPr id="248" name="Text Box 247"/>
          <p:cNvSpPr txBox="1"/>
          <p:nvPr/>
        </p:nvSpPr>
        <p:spPr>
          <a:xfrm>
            <a:off x="2269490" y="2002790"/>
            <a:ext cx="903605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2*dime</a:t>
            </a:r>
            <a:endParaRPr lang="en-US"/>
          </a:p>
        </p:txBody>
      </p:sp>
      <p:sp>
        <p:nvSpPr>
          <p:cNvPr id="249" name="Text Box 248"/>
          <p:cNvSpPr txBox="1"/>
          <p:nvPr/>
        </p:nvSpPr>
        <p:spPr>
          <a:xfrm>
            <a:off x="2386965" y="2982595"/>
            <a:ext cx="903605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3*dime</a:t>
            </a:r>
            <a:endParaRPr lang="en-US"/>
          </a:p>
        </p:txBody>
      </p:sp>
      <p:sp>
        <p:nvSpPr>
          <p:cNvPr id="250" name="Text Box 249"/>
          <p:cNvSpPr txBox="1"/>
          <p:nvPr/>
        </p:nvSpPr>
        <p:spPr>
          <a:xfrm>
            <a:off x="2386965" y="4236085"/>
            <a:ext cx="903605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5*dime</a:t>
            </a:r>
            <a:endParaRPr lang="en-US"/>
          </a:p>
        </p:txBody>
      </p:sp>
      <p:cxnSp>
        <p:nvCxnSpPr>
          <p:cNvPr id="251" name="Straight Arrow Connector 250"/>
          <p:cNvCxnSpPr/>
          <p:nvPr/>
        </p:nvCxnSpPr>
        <p:spPr>
          <a:xfrm flipV="1">
            <a:off x="3862070" y="1787525"/>
            <a:ext cx="85788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/>
          <p:nvPr/>
        </p:nvCxnSpPr>
        <p:spPr>
          <a:xfrm flipV="1">
            <a:off x="3841115" y="3477895"/>
            <a:ext cx="85788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3" name="Straight Arrow Connector 252"/>
          <p:cNvCxnSpPr/>
          <p:nvPr/>
        </p:nvCxnSpPr>
        <p:spPr>
          <a:xfrm flipV="1">
            <a:off x="3862070" y="5668645"/>
            <a:ext cx="85788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4" name="Rectangles 253"/>
          <p:cNvSpPr/>
          <p:nvPr/>
        </p:nvSpPr>
        <p:spPr>
          <a:xfrm>
            <a:off x="4876800" y="10134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5" name="Rectangles 254"/>
          <p:cNvSpPr/>
          <p:nvPr/>
        </p:nvSpPr>
        <p:spPr>
          <a:xfrm>
            <a:off x="4876800" y="117284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6" name="Rectangles 255"/>
          <p:cNvSpPr/>
          <p:nvPr/>
        </p:nvSpPr>
        <p:spPr>
          <a:xfrm>
            <a:off x="4876800" y="133858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7" name="Rectangles 256"/>
          <p:cNvSpPr/>
          <p:nvPr/>
        </p:nvSpPr>
        <p:spPr>
          <a:xfrm>
            <a:off x="4876800" y="14890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8" name="Rectangles 257"/>
          <p:cNvSpPr/>
          <p:nvPr/>
        </p:nvSpPr>
        <p:spPr>
          <a:xfrm>
            <a:off x="4876800" y="164465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9" name="Rectangles 258"/>
          <p:cNvSpPr/>
          <p:nvPr/>
        </p:nvSpPr>
        <p:spPr>
          <a:xfrm>
            <a:off x="4876800" y="180530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0" name="Rectangles 259"/>
          <p:cNvSpPr/>
          <p:nvPr/>
        </p:nvSpPr>
        <p:spPr>
          <a:xfrm>
            <a:off x="4876800" y="19659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1" name="Rectangles 260"/>
          <p:cNvSpPr/>
          <p:nvPr/>
        </p:nvSpPr>
        <p:spPr>
          <a:xfrm>
            <a:off x="4876800" y="10134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2" name="Rectangles 261"/>
          <p:cNvSpPr/>
          <p:nvPr/>
        </p:nvSpPr>
        <p:spPr>
          <a:xfrm>
            <a:off x="4876800" y="117284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3" name="Rectangles 262"/>
          <p:cNvSpPr/>
          <p:nvPr/>
        </p:nvSpPr>
        <p:spPr>
          <a:xfrm>
            <a:off x="4876800" y="133858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4" name="Rectangles 263"/>
          <p:cNvSpPr/>
          <p:nvPr/>
        </p:nvSpPr>
        <p:spPr>
          <a:xfrm>
            <a:off x="4876800" y="14890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5" name="Rectangles 264"/>
          <p:cNvSpPr/>
          <p:nvPr/>
        </p:nvSpPr>
        <p:spPr>
          <a:xfrm>
            <a:off x="4876800" y="164465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6" name="Rectangles 265"/>
          <p:cNvSpPr/>
          <p:nvPr/>
        </p:nvSpPr>
        <p:spPr>
          <a:xfrm>
            <a:off x="4876800" y="180530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7" name="Rectangles 266"/>
          <p:cNvSpPr/>
          <p:nvPr/>
        </p:nvSpPr>
        <p:spPr>
          <a:xfrm>
            <a:off x="4876800" y="19659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8" name="Rectangles 267"/>
          <p:cNvSpPr/>
          <p:nvPr/>
        </p:nvSpPr>
        <p:spPr>
          <a:xfrm>
            <a:off x="4876800" y="10134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9" name="Rectangles 268"/>
          <p:cNvSpPr/>
          <p:nvPr/>
        </p:nvSpPr>
        <p:spPr>
          <a:xfrm>
            <a:off x="4876800" y="117284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0" name="Rectangles 269"/>
          <p:cNvSpPr/>
          <p:nvPr/>
        </p:nvSpPr>
        <p:spPr>
          <a:xfrm>
            <a:off x="4876800" y="133858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1" name="Rectangles 270"/>
          <p:cNvSpPr/>
          <p:nvPr/>
        </p:nvSpPr>
        <p:spPr>
          <a:xfrm>
            <a:off x="4876800" y="14890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2" name="Rectangles 271"/>
          <p:cNvSpPr/>
          <p:nvPr/>
        </p:nvSpPr>
        <p:spPr>
          <a:xfrm>
            <a:off x="4876800" y="164465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3" name="Rectangles 272"/>
          <p:cNvSpPr/>
          <p:nvPr/>
        </p:nvSpPr>
        <p:spPr>
          <a:xfrm>
            <a:off x="4876800" y="180530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4" name="Rectangles 273"/>
          <p:cNvSpPr/>
          <p:nvPr/>
        </p:nvSpPr>
        <p:spPr>
          <a:xfrm>
            <a:off x="4876800" y="19659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5" name="Rectangles 274"/>
          <p:cNvSpPr/>
          <p:nvPr/>
        </p:nvSpPr>
        <p:spPr>
          <a:xfrm>
            <a:off x="4876800" y="28219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6" name="Rectangles 275"/>
          <p:cNvSpPr/>
          <p:nvPr/>
        </p:nvSpPr>
        <p:spPr>
          <a:xfrm>
            <a:off x="4876800" y="29813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7" name="Rectangles 276"/>
          <p:cNvSpPr/>
          <p:nvPr/>
        </p:nvSpPr>
        <p:spPr>
          <a:xfrm>
            <a:off x="4876800" y="31470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8" name="Rectangles 277"/>
          <p:cNvSpPr/>
          <p:nvPr/>
        </p:nvSpPr>
        <p:spPr>
          <a:xfrm>
            <a:off x="4876800" y="329755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9" name="Rectangles 278"/>
          <p:cNvSpPr/>
          <p:nvPr/>
        </p:nvSpPr>
        <p:spPr>
          <a:xfrm>
            <a:off x="4876800" y="345313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0" name="Rectangles 279"/>
          <p:cNvSpPr/>
          <p:nvPr/>
        </p:nvSpPr>
        <p:spPr>
          <a:xfrm>
            <a:off x="4876800" y="361378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1" name="Rectangles 280"/>
          <p:cNvSpPr/>
          <p:nvPr/>
        </p:nvSpPr>
        <p:spPr>
          <a:xfrm>
            <a:off x="4876800" y="37744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2" name="Rectangles 281"/>
          <p:cNvSpPr/>
          <p:nvPr/>
        </p:nvSpPr>
        <p:spPr>
          <a:xfrm>
            <a:off x="4876800" y="28219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3" name="Rectangles 282"/>
          <p:cNvSpPr/>
          <p:nvPr/>
        </p:nvSpPr>
        <p:spPr>
          <a:xfrm>
            <a:off x="4876800" y="29813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4" name="Rectangles 283"/>
          <p:cNvSpPr/>
          <p:nvPr/>
        </p:nvSpPr>
        <p:spPr>
          <a:xfrm>
            <a:off x="4876800" y="31470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5" name="Rectangles 284"/>
          <p:cNvSpPr/>
          <p:nvPr/>
        </p:nvSpPr>
        <p:spPr>
          <a:xfrm>
            <a:off x="4876800" y="329755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6" name="Rectangles 285"/>
          <p:cNvSpPr/>
          <p:nvPr/>
        </p:nvSpPr>
        <p:spPr>
          <a:xfrm>
            <a:off x="4876800" y="345313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7" name="Rectangles 286"/>
          <p:cNvSpPr/>
          <p:nvPr/>
        </p:nvSpPr>
        <p:spPr>
          <a:xfrm>
            <a:off x="4876800" y="361378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8" name="Rectangles 287"/>
          <p:cNvSpPr/>
          <p:nvPr/>
        </p:nvSpPr>
        <p:spPr>
          <a:xfrm>
            <a:off x="4876800" y="37744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9" name="Rectangles 288"/>
          <p:cNvSpPr/>
          <p:nvPr/>
        </p:nvSpPr>
        <p:spPr>
          <a:xfrm>
            <a:off x="4876800" y="28219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0" name="Rectangles 289"/>
          <p:cNvSpPr/>
          <p:nvPr/>
        </p:nvSpPr>
        <p:spPr>
          <a:xfrm>
            <a:off x="4876800" y="29813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1" name="Rectangles 290"/>
          <p:cNvSpPr/>
          <p:nvPr/>
        </p:nvSpPr>
        <p:spPr>
          <a:xfrm>
            <a:off x="4876800" y="314706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2" name="Rectangles 291"/>
          <p:cNvSpPr/>
          <p:nvPr/>
        </p:nvSpPr>
        <p:spPr>
          <a:xfrm>
            <a:off x="4876800" y="329755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3" name="Rectangles 292"/>
          <p:cNvSpPr/>
          <p:nvPr/>
        </p:nvSpPr>
        <p:spPr>
          <a:xfrm>
            <a:off x="4876800" y="345313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4" name="Rectangles 293"/>
          <p:cNvSpPr/>
          <p:nvPr/>
        </p:nvSpPr>
        <p:spPr>
          <a:xfrm>
            <a:off x="4876800" y="361378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5" name="Rectangles 294"/>
          <p:cNvSpPr/>
          <p:nvPr/>
        </p:nvSpPr>
        <p:spPr>
          <a:xfrm>
            <a:off x="4876800" y="37744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6" name="Rectangles 295"/>
          <p:cNvSpPr/>
          <p:nvPr/>
        </p:nvSpPr>
        <p:spPr>
          <a:xfrm>
            <a:off x="4876800" y="512572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7" name="Rectangles 296"/>
          <p:cNvSpPr/>
          <p:nvPr/>
        </p:nvSpPr>
        <p:spPr>
          <a:xfrm>
            <a:off x="4876800" y="528510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8" name="Rectangles 297"/>
          <p:cNvSpPr/>
          <p:nvPr/>
        </p:nvSpPr>
        <p:spPr>
          <a:xfrm>
            <a:off x="4876800" y="54508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9" name="Rectangles 298"/>
          <p:cNvSpPr/>
          <p:nvPr/>
        </p:nvSpPr>
        <p:spPr>
          <a:xfrm>
            <a:off x="4876800" y="560133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0" name="Rectangles 299"/>
          <p:cNvSpPr/>
          <p:nvPr/>
        </p:nvSpPr>
        <p:spPr>
          <a:xfrm>
            <a:off x="4876800" y="57569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1" name="Rectangles 300"/>
          <p:cNvSpPr/>
          <p:nvPr/>
        </p:nvSpPr>
        <p:spPr>
          <a:xfrm>
            <a:off x="4876800" y="591756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2" name="Rectangles 301"/>
          <p:cNvSpPr/>
          <p:nvPr/>
        </p:nvSpPr>
        <p:spPr>
          <a:xfrm>
            <a:off x="4876800" y="607822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3" name="Rectangles 302"/>
          <p:cNvSpPr/>
          <p:nvPr/>
        </p:nvSpPr>
        <p:spPr>
          <a:xfrm>
            <a:off x="4876800" y="512572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4" name="Rectangles 303"/>
          <p:cNvSpPr/>
          <p:nvPr/>
        </p:nvSpPr>
        <p:spPr>
          <a:xfrm>
            <a:off x="4876800" y="528510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5" name="Rectangles 304"/>
          <p:cNvSpPr/>
          <p:nvPr/>
        </p:nvSpPr>
        <p:spPr>
          <a:xfrm>
            <a:off x="4876800" y="54508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6" name="Rectangles 305"/>
          <p:cNvSpPr/>
          <p:nvPr/>
        </p:nvSpPr>
        <p:spPr>
          <a:xfrm>
            <a:off x="4876800" y="560133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7" name="Rectangles 306"/>
          <p:cNvSpPr/>
          <p:nvPr/>
        </p:nvSpPr>
        <p:spPr>
          <a:xfrm>
            <a:off x="4876800" y="57569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8" name="Rectangles 307"/>
          <p:cNvSpPr/>
          <p:nvPr/>
        </p:nvSpPr>
        <p:spPr>
          <a:xfrm>
            <a:off x="4876800" y="591756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9" name="Rectangles 308"/>
          <p:cNvSpPr/>
          <p:nvPr/>
        </p:nvSpPr>
        <p:spPr>
          <a:xfrm>
            <a:off x="4876800" y="607822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0" name="Rectangles 309"/>
          <p:cNvSpPr/>
          <p:nvPr/>
        </p:nvSpPr>
        <p:spPr>
          <a:xfrm>
            <a:off x="4876800" y="512572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1" name="Rectangles 310"/>
          <p:cNvSpPr/>
          <p:nvPr/>
        </p:nvSpPr>
        <p:spPr>
          <a:xfrm>
            <a:off x="4876800" y="528510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2" name="Rectangles 311"/>
          <p:cNvSpPr/>
          <p:nvPr/>
        </p:nvSpPr>
        <p:spPr>
          <a:xfrm>
            <a:off x="4876800" y="54508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3" name="Rectangles 312"/>
          <p:cNvSpPr/>
          <p:nvPr/>
        </p:nvSpPr>
        <p:spPr>
          <a:xfrm>
            <a:off x="4876800" y="560133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4" name="Rectangles 313"/>
          <p:cNvSpPr/>
          <p:nvPr/>
        </p:nvSpPr>
        <p:spPr>
          <a:xfrm>
            <a:off x="4876800" y="57569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5" name="Rectangles 314"/>
          <p:cNvSpPr/>
          <p:nvPr/>
        </p:nvSpPr>
        <p:spPr>
          <a:xfrm>
            <a:off x="4876800" y="591756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6" name="Rectangles 315"/>
          <p:cNvSpPr/>
          <p:nvPr/>
        </p:nvSpPr>
        <p:spPr>
          <a:xfrm>
            <a:off x="4876800" y="607822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7" name="Text Box 316"/>
          <p:cNvSpPr txBox="1"/>
          <p:nvPr/>
        </p:nvSpPr>
        <p:spPr>
          <a:xfrm>
            <a:off x="4776470" y="660400"/>
            <a:ext cx="809625" cy="38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32</a:t>
            </a:r>
            <a:endParaRPr lang="en-US"/>
          </a:p>
        </p:txBody>
      </p:sp>
      <p:sp>
        <p:nvSpPr>
          <p:cNvPr id="318" name="Text Box 317"/>
          <p:cNvSpPr txBox="1"/>
          <p:nvPr/>
        </p:nvSpPr>
        <p:spPr>
          <a:xfrm>
            <a:off x="4776470" y="2436495"/>
            <a:ext cx="809625" cy="38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32</a:t>
            </a:r>
            <a:endParaRPr lang="en-US"/>
          </a:p>
        </p:txBody>
      </p:sp>
      <p:sp>
        <p:nvSpPr>
          <p:cNvPr id="319" name="Text Box 318"/>
          <p:cNvSpPr txBox="1"/>
          <p:nvPr/>
        </p:nvSpPr>
        <p:spPr>
          <a:xfrm>
            <a:off x="4776470" y="4773930"/>
            <a:ext cx="809625" cy="38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32</a:t>
            </a:r>
            <a:endParaRPr lang="en-US"/>
          </a:p>
        </p:txBody>
      </p:sp>
      <p:cxnSp>
        <p:nvCxnSpPr>
          <p:cNvPr id="320" name="Straight Connector 319"/>
          <p:cNvCxnSpPr/>
          <p:nvPr/>
        </p:nvCxnSpPr>
        <p:spPr>
          <a:xfrm>
            <a:off x="2269490" y="752475"/>
            <a:ext cx="8369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1" name="Straight Connector 320"/>
          <p:cNvCxnSpPr/>
          <p:nvPr/>
        </p:nvCxnSpPr>
        <p:spPr>
          <a:xfrm flipH="1">
            <a:off x="2162810" y="639445"/>
            <a:ext cx="151130" cy="113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3" name="Straight Connector 322"/>
          <p:cNvCxnSpPr>
            <a:endCxn id="244" idx="1"/>
          </p:cNvCxnSpPr>
          <p:nvPr/>
        </p:nvCxnSpPr>
        <p:spPr>
          <a:xfrm>
            <a:off x="3150870" y="639445"/>
            <a:ext cx="144145" cy="1098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4" name="Straight Connector 323"/>
          <p:cNvCxnSpPr/>
          <p:nvPr/>
        </p:nvCxnSpPr>
        <p:spPr>
          <a:xfrm>
            <a:off x="3862070" y="660400"/>
            <a:ext cx="8369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5" name="Straight Connector 324"/>
          <p:cNvCxnSpPr/>
          <p:nvPr/>
        </p:nvCxnSpPr>
        <p:spPr>
          <a:xfrm flipH="1">
            <a:off x="3710940" y="639445"/>
            <a:ext cx="151130" cy="113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6" name="Straight Connector 325"/>
          <p:cNvCxnSpPr/>
          <p:nvPr/>
        </p:nvCxnSpPr>
        <p:spPr>
          <a:xfrm>
            <a:off x="4699000" y="639445"/>
            <a:ext cx="144145" cy="1098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7" name="Text Box 326"/>
          <p:cNvSpPr txBox="1"/>
          <p:nvPr/>
        </p:nvSpPr>
        <p:spPr>
          <a:xfrm>
            <a:off x="5206365" y="215900"/>
            <a:ext cx="1484630" cy="340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Concatenate</a:t>
            </a:r>
            <a:endParaRPr lang="en-US"/>
          </a:p>
        </p:txBody>
      </p:sp>
      <p:sp>
        <p:nvSpPr>
          <p:cNvPr id="328" name="Rectangles 327"/>
          <p:cNvSpPr/>
          <p:nvPr/>
        </p:nvSpPr>
        <p:spPr>
          <a:xfrm>
            <a:off x="6811645" y="28555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9" name="Rectangles 328"/>
          <p:cNvSpPr/>
          <p:nvPr/>
        </p:nvSpPr>
        <p:spPr>
          <a:xfrm>
            <a:off x="6811645" y="301498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0" name="Rectangles 329"/>
          <p:cNvSpPr/>
          <p:nvPr/>
        </p:nvSpPr>
        <p:spPr>
          <a:xfrm>
            <a:off x="6811645" y="318071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1" name="Rectangles 330"/>
          <p:cNvSpPr/>
          <p:nvPr/>
        </p:nvSpPr>
        <p:spPr>
          <a:xfrm>
            <a:off x="6811645" y="33312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2" name="Rectangles 331"/>
          <p:cNvSpPr/>
          <p:nvPr/>
        </p:nvSpPr>
        <p:spPr>
          <a:xfrm>
            <a:off x="6811645" y="348678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3" name="Rectangles 332"/>
          <p:cNvSpPr/>
          <p:nvPr/>
        </p:nvSpPr>
        <p:spPr>
          <a:xfrm>
            <a:off x="6811645" y="36474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4" name="Rectangles 333"/>
          <p:cNvSpPr/>
          <p:nvPr/>
        </p:nvSpPr>
        <p:spPr>
          <a:xfrm>
            <a:off x="6811645" y="38080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5" name="Rectangles 334"/>
          <p:cNvSpPr/>
          <p:nvPr/>
        </p:nvSpPr>
        <p:spPr>
          <a:xfrm>
            <a:off x="6811645" y="28555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6" name="Rectangles 335"/>
          <p:cNvSpPr/>
          <p:nvPr/>
        </p:nvSpPr>
        <p:spPr>
          <a:xfrm>
            <a:off x="6811645" y="301498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7" name="Rectangles 336"/>
          <p:cNvSpPr/>
          <p:nvPr/>
        </p:nvSpPr>
        <p:spPr>
          <a:xfrm>
            <a:off x="6811645" y="318071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8" name="Rectangles 337"/>
          <p:cNvSpPr/>
          <p:nvPr/>
        </p:nvSpPr>
        <p:spPr>
          <a:xfrm>
            <a:off x="6811645" y="33312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9" name="Rectangles 338"/>
          <p:cNvSpPr/>
          <p:nvPr/>
        </p:nvSpPr>
        <p:spPr>
          <a:xfrm>
            <a:off x="6811645" y="348678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0" name="Rectangles 339"/>
          <p:cNvSpPr/>
          <p:nvPr/>
        </p:nvSpPr>
        <p:spPr>
          <a:xfrm>
            <a:off x="6811645" y="36474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1" name="Rectangles 340"/>
          <p:cNvSpPr/>
          <p:nvPr/>
        </p:nvSpPr>
        <p:spPr>
          <a:xfrm>
            <a:off x="6811645" y="38080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2" name="Rectangles 341"/>
          <p:cNvSpPr/>
          <p:nvPr/>
        </p:nvSpPr>
        <p:spPr>
          <a:xfrm>
            <a:off x="6811645" y="28555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3" name="Rectangles 342"/>
          <p:cNvSpPr/>
          <p:nvPr/>
        </p:nvSpPr>
        <p:spPr>
          <a:xfrm>
            <a:off x="6811645" y="301498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4" name="Rectangles 343"/>
          <p:cNvSpPr/>
          <p:nvPr/>
        </p:nvSpPr>
        <p:spPr>
          <a:xfrm>
            <a:off x="6811645" y="318071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5" name="Rectangles 344"/>
          <p:cNvSpPr/>
          <p:nvPr/>
        </p:nvSpPr>
        <p:spPr>
          <a:xfrm>
            <a:off x="6811645" y="33312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6" name="Rectangles 345"/>
          <p:cNvSpPr/>
          <p:nvPr/>
        </p:nvSpPr>
        <p:spPr>
          <a:xfrm>
            <a:off x="6811645" y="348678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7" name="Rectangles 346"/>
          <p:cNvSpPr/>
          <p:nvPr/>
        </p:nvSpPr>
        <p:spPr>
          <a:xfrm>
            <a:off x="6811645" y="36474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8" name="Rectangles 347"/>
          <p:cNvSpPr/>
          <p:nvPr/>
        </p:nvSpPr>
        <p:spPr>
          <a:xfrm>
            <a:off x="6811645" y="38080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53" name="Straight Arrow Connector 352"/>
          <p:cNvCxnSpPr/>
          <p:nvPr/>
        </p:nvCxnSpPr>
        <p:spPr>
          <a:xfrm>
            <a:off x="5206365" y="1616075"/>
            <a:ext cx="1387475" cy="14598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4" name="Straight Arrow Connector 353"/>
          <p:cNvCxnSpPr/>
          <p:nvPr/>
        </p:nvCxnSpPr>
        <p:spPr>
          <a:xfrm>
            <a:off x="5267325" y="3433445"/>
            <a:ext cx="13265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5" name="Straight Arrow Connector 354"/>
          <p:cNvCxnSpPr/>
          <p:nvPr/>
        </p:nvCxnSpPr>
        <p:spPr>
          <a:xfrm flipV="1">
            <a:off x="5471160" y="3903345"/>
            <a:ext cx="1094740" cy="17506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6" name="Text Box 355"/>
          <p:cNvSpPr txBox="1"/>
          <p:nvPr/>
        </p:nvSpPr>
        <p:spPr>
          <a:xfrm>
            <a:off x="7120255" y="215900"/>
            <a:ext cx="1484630" cy="340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Softmax</a:t>
            </a:r>
            <a:endParaRPr lang="en-US"/>
          </a:p>
        </p:txBody>
      </p:sp>
      <p:sp>
        <p:nvSpPr>
          <p:cNvPr id="357" name="Text Box 356"/>
          <p:cNvSpPr txBox="1"/>
          <p:nvPr/>
        </p:nvSpPr>
        <p:spPr>
          <a:xfrm>
            <a:off x="6734175" y="2476500"/>
            <a:ext cx="809625" cy="38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96</a:t>
            </a:r>
            <a:endParaRPr lang="en-US"/>
          </a:p>
        </p:txBody>
      </p:sp>
      <p:sp>
        <p:nvSpPr>
          <p:cNvPr id="358" name="Rectangles 357"/>
          <p:cNvSpPr/>
          <p:nvPr/>
        </p:nvSpPr>
        <p:spPr>
          <a:xfrm>
            <a:off x="8371205" y="323278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9" name="Rectangles 358"/>
          <p:cNvSpPr/>
          <p:nvPr/>
        </p:nvSpPr>
        <p:spPr>
          <a:xfrm>
            <a:off x="8371205" y="33934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60" name="Straight Connector 359"/>
          <p:cNvCxnSpPr/>
          <p:nvPr/>
        </p:nvCxnSpPr>
        <p:spPr>
          <a:xfrm>
            <a:off x="5471160" y="660400"/>
            <a:ext cx="8369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1" name="Straight Connector 360"/>
          <p:cNvCxnSpPr/>
          <p:nvPr/>
        </p:nvCxnSpPr>
        <p:spPr>
          <a:xfrm flipH="1">
            <a:off x="5320030" y="639445"/>
            <a:ext cx="151130" cy="113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2" name="Straight Connector 361"/>
          <p:cNvCxnSpPr/>
          <p:nvPr/>
        </p:nvCxnSpPr>
        <p:spPr>
          <a:xfrm>
            <a:off x="6308090" y="639445"/>
            <a:ext cx="144145" cy="1098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3" name="Straight Connector 362"/>
          <p:cNvCxnSpPr/>
          <p:nvPr/>
        </p:nvCxnSpPr>
        <p:spPr>
          <a:xfrm>
            <a:off x="7257415" y="660400"/>
            <a:ext cx="8369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4" name="Straight Connector 363"/>
          <p:cNvCxnSpPr/>
          <p:nvPr/>
        </p:nvCxnSpPr>
        <p:spPr>
          <a:xfrm flipH="1">
            <a:off x="7106285" y="639445"/>
            <a:ext cx="151130" cy="113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5" name="Straight Connector 364"/>
          <p:cNvCxnSpPr/>
          <p:nvPr/>
        </p:nvCxnSpPr>
        <p:spPr>
          <a:xfrm>
            <a:off x="8094345" y="639445"/>
            <a:ext cx="144145" cy="1098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8" name="Straight Arrow Connector 367"/>
          <p:cNvCxnSpPr/>
          <p:nvPr/>
        </p:nvCxnSpPr>
        <p:spPr>
          <a:xfrm flipV="1">
            <a:off x="7132955" y="3420745"/>
            <a:ext cx="110553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71" name="Table 370"/>
          <p:cNvGraphicFramePr/>
          <p:nvPr/>
        </p:nvGraphicFramePr>
        <p:xfrm>
          <a:off x="687705" y="2476500"/>
          <a:ext cx="16992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15"/>
                <a:gridCol w="424815"/>
                <a:gridCol w="424815"/>
                <a:gridCol w="42481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72" name="Table 371"/>
          <p:cNvGraphicFramePr/>
          <p:nvPr/>
        </p:nvGraphicFramePr>
        <p:xfrm>
          <a:off x="687705" y="3968750"/>
          <a:ext cx="16992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15"/>
                <a:gridCol w="424815"/>
                <a:gridCol w="424815"/>
                <a:gridCol w="42481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73" name="Table 372"/>
          <p:cNvGraphicFramePr/>
          <p:nvPr/>
        </p:nvGraphicFramePr>
        <p:xfrm>
          <a:off x="687705" y="4334510"/>
          <a:ext cx="16992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15"/>
                <a:gridCol w="424815"/>
                <a:gridCol w="424815"/>
                <a:gridCol w="42481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75" name="Table 374"/>
          <p:cNvGraphicFramePr/>
          <p:nvPr/>
        </p:nvGraphicFramePr>
        <p:xfrm>
          <a:off x="687705" y="4700270"/>
          <a:ext cx="16992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15"/>
                <a:gridCol w="424815"/>
                <a:gridCol w="424815"/>
                <a:gridCol w="42481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7423785" y="154241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tx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Xây dựng CNN</a:t>
            </a:r>
            <a:endParaRPr lang="en-US" altLang="zh-CN" sz="2400" b="1">
              <a:solidFill>
                <a:schemeClr val="tx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Table 4"/>
          <p:cNvGraphicFramePr/>
          <p:nvPr/>
        </p:nvGraphicFramePr>
        <p:xfrm>
          <a:off x="687705" y="618490"/>
          <a:ext cx="16992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15"/>
                <a:gridCol w="424815"/>
                <a:gridCol w="424815"/>
                <a:gridCol w="42481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/>
        </p:nvGraphicFramePr>
        <p:xfrm>
          <a:off x="687705" y="1466215"/>
          <a:ext cx="16992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15"/>
                <a:gridCol w="424815"/>
                <a:gridCol w="424815"/>
                <a:gridCol w="424815"/>
              </a:tblGrid>
              <a:tr h="23304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3" name="Table 32"/>
          <p:cNvGraphicFramePr/>
          <p:nvPr/>
        </p:nvGraphicFramePr>
        <p:xfrm>
          <a:off x="687705" y="2476500"/>
          <a:ext cx="16992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15"/>
                <a:gridCol w="424815"/>
                <a:gridCol w="424815"/>
                <a:gridCol w="42481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0" name="Table 49"/>
          <p:cNvGraphicFramePr/>
          <p:nvPr/>
        </p:nvGraphicFramePr>
        <p:xfrm>
          <a:off x="687705" y="3429000"/>
          <a:ext cx="16992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15"/>
                <a:gridCol w="424815"/>
                <a:gridCol w="424815"/>
                <a:gridCol w="424815"/>
              </a:tblGrid>
              <a:tr h="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4" name="Rectangles 53"/>
          <p:cNvSpPr/>
          <p:nvPr/>
        </p:nvSpPr>
        <p:spPr>
          <a:xfrm>
            <a:off x="2884805" y="897255"/>
            <a:ext cx="850265" cy="4819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/>
              <a:t>LSTM-</a:t>
            </a:r>
            <a:endParaRPr lang="en-US"/>
          </a:p>
        </p:txBody>
      </p:sp>
      <p:sp>
        <p:nvSpPr>
          <p:cNvPr id="55" name="Rectangles 54"/>
          <p:cNvSpPr/>
          <p:nvPr/>
        </p:nvSpPr>
        <p:spPr>
          <a:xfrm>
            <a:off x="4232910" y="415290"/>
            <a:ext cx="850265" cy="4819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/>
              <a:t>LSTM+</a:t>
            </a:r>
            <a:endParaRPr lang="en-US"/>
          </a:p>
        </p:txBody>
      </p:sp>
      <p:sp>
        <p:nvSpPr>
          <p:cNvPr id="58" name="Rectangles 57"/>
          <p:cNvSpPr/>
          <p:nvPr/>
        </p:nvSpPr>
        <p:spPr>
          <a:xfrm>
            <a:off x="2884805" y="1870075"/>
            <a:ext cx="850265" cy="4819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/>
              <a:t>LSTM-</a:t>
            </a:r>
            <a:endParaRPr lang="en-US"/>
          </a:p>
        </p:txBody>
      </p:sp>
      <p:sp>
        <p:nvSpPr>
          <p:cNvPr id="59" name="Rectangles 58"/>
          <p:cNvSpPr/>
          <p:nvPr/>
        </p:nvSpPr>
        <p:spPr>
          <a:xfrm>
            <a:off x="2884805" y="3597910"/>
            <a:ext cx="850265" cy="4819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/>
              <a:t>LSTM-</a:t>
            </a:r>
            <a:endParaRPr lang="en-US"/>
          </a:p>
        </p:txBody>
      </p:sp>
      <p:graphicFrame>
        <p:nvGraphicFramePr>
          <p:cNvPr id="60" name="Table 59"/>
          <p:cNvGraphicFramePr/>
          <p:nvPr/>
        </p:nvGraphicFramePr>
        <p:xfrm>
          <a:off x="687705" y="2035175"/>
          <a:ext cx="16992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15"/>
                <a:gridCol w="424815"/>
                <a:gridCol w="424815"/>
                <a:gridCol w="42481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1" name="Table 60"/>
          <p:cNvGraphicFramePr/>
          <p:nvPr/>
        </p:nvGraphicFramePr>
        <p:xfrm>
          <a:off x="687705" y="2869565"/>
          <a:ext cx="16992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15"/>
                <a:gridCol w="424815"/>
                <a:gridCol w="424815"/>
                <a:gridCol w="424815"/>
              </a:tblGrid>
              <a:tr h="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2" name="Rectangles 61"/>
          <p:cNvSpPr/>
          <p:nvPr/>
        </p:nvSpPr>
        <p:spPr>
          <a:xfrm>
            <a:off x="4232910" y="3235325"/>
            <a:ext cx="850265" cy="4819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/>
              <a:t>LSTM+</a:t>
            </a:r>
            <a:endParaRPr lang="en-US"/>
          </a:p>
        </p:txBody>
      </p:sp>
      <p:sp>
        <p:nvSpPr>
          <p:cNvPr id="63" name="Rectangles 62"/>
          <p:cNvSpPr/>
          <p:nvPr/>
        </p:nvSpPr>
        <p:spPr>
          <a:xfrm>
            <a:off x="4214495" y="1447800"/>
            <a:ext cx="850265" cy="4819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/>
              <a:t>LSTM+</a:t>
            </a:r>
            <a:endParaRPr lang="en-US"/>
          </a:p>
        </p:txBody>
      </p:sp>
      <p:cxnSp>
        <p:nvCxnSpPr>
          <p:cNvPr id="64" name="Straight Connector 63"/>
          <p:cNvCxnSpPr>
            <a:stCxn id="55" idx="1"/>
          </p:cNvCxnSpPr>
          <p:nvPr/>
        </p:nvCxnSpPr>
        <p:spPr>
          <a:xfrm flipH="1" flipV="1">
            <a:off x="2737485" y="646430"/>
            <a:ext cx="1495425" cy="1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54" idx="1"/>
          </p:cNvCxnSpPr>
          <p:nvPr/>
        </p:nvCxnSpPr>
        <p:spPr>
          <a:xfrm flipH="1" flipV="1">
            <a:off x="2718435" y="1121410"/>
            <a:ext cx="166370" cy="171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2747010" y="636270"/>
            <a:ext cx="0" cy="475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" idx="3"/>
          </p:cNvCxnSpPr>
          <p:nvPr/>
        </p:nvCxnSpPr>
        <p:spPr>
          <a:xfrm flipV="1">
            <a:off x="2386965" y="798195"/>
            <a:ext cx="340995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 flipV="1">
            <a:off x="2718435" y="1610360"/>
            <a:ext cx="1495425" cy="1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 flipV="1">
            <a:off x="2718435" y="2000250"/>
            <a:ext cx="166370" cy="171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2713990" y="1593850"/>
            <a:ext cx="3175" cy="4235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V="1">
            <a:off x="2367915" y="1678305"/>
            <a:ext cx="340995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62" idx="1"/>
          </p:cNvCxnSpPr>
          <p:nvPr/>
        </p:nvCxnSpPr>
        <p:spPr>
          <a:xfrm flipH="1">
            <a:off x="2708910" y="3476625"/>
            <a:ext cx="1524000" cy="44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 flipV="1">
            <a:off x="2708910" y="3870960"/>
            <a:ext cx="166370" cy="171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H="1">
            <a:off x="2704465" y="3464560"/>
            <a:ext cx="3175" cy="4235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V="1">
            <a:off x="2358390" y="3549015"/>
            <a:ext cx="340995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59" idx="0"/>
            <a:endCxn id="58" idx="2"/>
          </p:cNvCxnSpPr>
          <p:nvPr/>
        </p:nvCxnSpPr>
        <p:spPr>
          <a:xfrm flipV="1">
            <a:off x="3310255" y="2352040"/>
            <a:ext cx="0" cy="1245870"/>
          </a:xfrm>
          <a:prstGeom prst="straightConnector1">
            <a:avLst/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58" idx="0"/>
            <a:endCxn id="54" idx="2"/>
          </p:cNvCxnSpPr>
          <p:nvPr/>
        </p:nvCxnSpPr>
        <p:spPr>
          <a:xfrm flipV="1">
            <a:off x="3310255" y="1379220"/>
            <a:ext cx="0" cy="49085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5" idx="2"/>
            <a:endCxn id="63" idx="0"/>
          </p:cNvCxnSpPr>
          <p:nvPr/>
        </p:nvCxnSpPr>
        <p:spPr>
          <a:xfrm flipH="1">
            <a:off x="4639945" y="897255"/>
            <a:ext cx="18415" cy="5505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63" idx="2"/>
            <a:endCxn id="62" idx="0"/>
          </p:cNvCxnSpPr>
          <p:nvPr/>
        </p:nvCxnSpPr>
        <p:spPr>
          <a:xfrm>
            <a:off x="4639945" y="1929765"/>
            <a:ext cx="18415" cy="1305560"/>
          </a:xfrm>
          <a:prstGeom prst="straightConnector1">
            <a:avLst/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9" idx="3"/>
          </p:cNvCxnSpPr>
          <p:nvPr/>
        </p:nvCxnSpPr>
        <p:spPr>
          <a:xfrm>
            <a:off x="3735070" y="3839210"/>
            <a:ext cx="1745615" cy="5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4" idx="3"/>
          </p:cNvCxnSpPr>
          <p:nvPr/>
        </p:nvCxnSpPr>
        <p:spPr>
          <a:xfrm flipV="1">
            <a:off x="3735070" y="1137920"/>
            <a:ext cx="1728470" cy="6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Elbow Connector 93"/>
          <p:cNvCxnSpPr>
            <a:stCxn id="62" idx="3"/>
          </p:cNvCxnSpPr>
          <p:nvPr/>
        </p:nvCxnSpPr>
        <p:spPr>
          <a:xfrm>
            <a:off x="5083175" y="3476625"/>
            <a:ext cx="769620" cy="17208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58" idx="3"/>
          </p:cNvCxnSpPr>
          <p:nvPr/>
        </p:nvCxnSpPr>
        <p:spPr>
          <a:xfrm flipV="1">
            <a:off x="3735070" y="2107565"/>
            <a:ext cx="1710690" cy="3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Elbow Connector 95"/>
          <p:cNvCxnSpPr>
            <a:stCxn id="63" idx="3"/>
          </p:cNvCxnSpPr>
          <p:nvPr/>
        </p:nvCxnSpPr>
        <p:spPr>
          <a:xfrm>
            <a:off x="5064760" y="1689100"/>
            <a:ext cx="753745" cy="219710"/>
          </a:xfrm>
          <a:prstGeom prst="bentConnector3">
            <a:avLst>
              <a:gd name="adj1" fmla="val 5004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Elbow Connector 96"/>
          <p:cNvCxnSpPr>
            <a:stCxn id="55" idx="3"/>
          </p:cNvCxnSpPr>
          <p:nvPr/>
        </p:nvCxnSpPr>
        <p:spPr>
          <a:xfrm>
            <a:off x="5083175" y="656590"/>
            <a:ext cx="735330" cy="21272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5450840" y="869950"/>
            <a:ext cx="0" cy="2686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5440680" y="1908810"/>
            <a:ext cx="1270" cy="1936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5473700" y="3645535"/>
            <a:ext cx="1270" cy="1936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1" name="Text Box 100"/>
          <p:cNvSpPr txBox="1"/>
          <p:nvPr/>
        </p:nvSpPr>
        <p:spPr>
          <a:xfrm>
            <a:off x="4214495" y="2905125"/>
            <a:ext cx="76708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fhn</a:t>
            </a:r>
            <a:endParaRPr lang="en-US"/>
          </a:p>
        </p:txBody>
      </p:sp>
      <p:sp>
        <p:nvSpPr>
          <p:cNvPr id="102" name="Text Box 101"/>
          <p:cNvSpPr txBox="1"/>
          <p:nvPr/>
        </p:nvSpPr>
        <p:spPr>
          <a:xfrm>
            <a:off x="4206875" y="1136015"/>
            <a:ext cx="76708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fh2</a:t>
            </a:r>
            <a:endParaRPr lang="en-US"/>
          </a:p>
        </p:txBody>
      </p:sp>
      <p:sp>
        <p:nvSpPr>
          <p:cNvPr id="103" name="Text Box 102"/>
          <p:cNvSpPr txBox="1"/>
          <p:nvPr/>
        </p:nvSpPr>
        <p:spPr>
          <a:xfrm>
            <a:off x="4214495" y="85090"/>
            <a:ext cx="76708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fh1</a:t>
            </a:r>
            <a:endParaRPr lang="en-US"/>
          </a:p>
        </p:txBody>
      </p:sp>
      <p:sp>
        <p:nvSpPr>
          <p:cNvPr id="104" name="Text Box 103"/>
          <p:cNvSpPr txBox="1"/>
          <p:nvPr/>
        </p:nvSpPr>
        <p:spPr>
          <a:xfrm>
            <a:off x="2875280" y="4011930"/>
            <a:ext cx="76708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bhn</a:t>
            </a:r>
            <a:endParaRPr lang="en-US"/>
          </a:p>
        </p:txBody>
      </p:sp>
      <p:sp>
        <p:nvSpPr>
          <p:cNvPr id="105" name="Text Box 104"/>
          <p:cNvSpPr txBox="1"/>
          <p:nvPr/>
        </p:nvSpPr>
        <p:spPr>
          <a:xfrm>
            <a:off x="2804160" y="1599565"/>
            <a:ext cx="76708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bh2</a:t>
            </a:r>
            <a:endParaRPr lang="en-US"/>
          </a:p>
        </p:txBody>
      </p:sp>
      <p:sp>
        <p:nvSpPr>
          <p:cNvPr id="106" name="Text Box 105"/>
          <p:cNvSpPr txBox="1"/>
          <p:nvPr/>
        </p:nvSpPr>
        <p:spPr>
          <a:xfrm>
            <a:off x="2884805" y="567055"/>
            <a:ext cx="76708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bh1</a:t>
            </a:r>
            <a:endParaRPr lang="en-US"/>
          </a:p>
        </p:txBody>
      </p:sp>
      <p:sp>
        <p:nvSpPr>
          <p:cNvPr id="107" name="Text Box 106"/>
          <p:cNvSpPr txBox="1"/>
          <p:nvPr/>
        </p:nvSpPr>
        <p:spPr>
          <a:xfrm>
            <a:off x="5440680" y="528955"/>
            <a:ext cx="75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h1</a:t>
            </a:r>
            <a:endParaRPr lang="en-US"/>
          </a:p>
        </p:txBody>
      </p:sp>
      <p:sp>
        <p:nvSpPr>
          <p:cNvPr id="108" name="Text Box 107"/>
          <p:cNvSpPr txBox="1"/>
          <p:nvPr/>
        </p:nvSpPr>
        <p:spPr>
          <a:xfrm>
            <a:off x="5440680" y="1561465"/>
            <a:ext cx="75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h2</a:t>
            </a:r>
            <a:endParaRPr lang="en-US"/>
          </a:p>
        </p:txBody>
      </p:sp>
      <p:sp>
        <p:nvSpPr>
          <p:cNvPr id="109" name="Text Box 108"/>
          <p:cNvSpPr txBox="1"/>
          <p:nvPr/>
        </p:nvSpPr>
        <p:spPr>
          <a:xfrm>
            <a:off x="5480685" y="3277235"/>
            <a:ext cx="75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h3</a:t>
            </a:r>
            <a:endParaRPr lang="en-US"/>
          </a:p>
        </p:txBody>
      </p:sp>
      <p:sp>
        <p:nvSpPr>
          <p:cNvPr id="110" name="Rounded Rectangle 109"/>
          <p:cNvSpPr/>
          <p:nvPr/>
        </p:nvSpPr>
        <p:spPr>
          <a:xfrm>
            <a:off x="6240145" y="1066165"/>
            <a:ext cx="1257300" cy="4953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GlobalAvgPooling</a:t>
            </a:r>
            <a:endParaRPr lang="en-US" altLang="en-US"/>
          </a:p>
        </p:txBody>
      </p:sp>
      <p:sp>
        <p:nvSpPr>
          <p:cNvPr id="111" name="Rounded Rectangle 110"/>
          <p:cNvSpPr/>
          <p:nvPr/>
        </p:nvSpPr>
        <p:spPr>
          <a:xfrm>
            <a:off x="6200140" y="2641600"/>
            <a:ext cx="1257300" cy="4953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GlobalMaxPooling</a:t>
            </a:r>
            <a:endParaRPr lang="en-US" altLang="en-US"/>
          </a:p>
        </p:txBody>
      </p:sp>
      <p:cxnSp>
        <p:nvCxnSpPr>
          <p:cNvPr id="112" name="Elbow Connector 111"/>
          <p:cNvCxnSpPr>
            <a:stCxn id="107" idx="2"/>
            <a:endCxn id="110" idx="1"/>
          </p:cNvCxnSpPr>
          <p:nvPr/>
        </p:nvCxnSpPr>
        <p:spPr>
          <a:xfrm rot="5400000" flipV="1">
            <a:off x="5821680" y="895350"/>
            <a:ext cx="416560" cy="4197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Elbow Connector 112"/>
          <p:cNvCxnSpPr>
            <a:stCxn id="108" idx="2"/>
            <a:endCxn id="111" idx="1"/>
          </p:cNvCxnSpPr>
          <p:nvPr/>
        </p:nvCxnSpPr>
        <p:spPr>
          <a:xfrm rot="5400000" flipV="1">
            <a:off x="5530850" y="2219325"/>
            <a:ext cx="959485" cy="37973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endCxn id="109" idx="2"/>
          </p:cNvCxnSpPr>
          <p:nvPr/>
        </p:nvCxnSpPr>
        <p:spPr>
          <a:xfrm>
            <a:off x="5814695" y="2881630"/>
            <a:ext cx="45720" cy="7639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endCxn id="108" idx="2"/>
          </p:cNvCxnSpPr>
          <p:nvPr/>
        </p:nvCxnSpPr>
        <p:spPr>
          <a:xfrm>
            <a:off x="5814695" y="1300480"/>
            <a:ext cx="5715" cy="629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6" name="Rectangles 115"/>
          <p:cNvSpPr/>
          <p:nvPr/>
        </p:nvSpPr>
        <p:spPr>
          <a:xfrm>
            <a:off x="7867650" y="8166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7" name="Rectangles 116"/>
          <p:cNvSpPr/>
          <p:nvPr/>
        </p:nvSpPr>
        <p:spPr>
          <a:xfrm>
            <a:off x="7867650" y="9759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8" name="Rectangles 117"/>
          <p:cNvSpPr/>
          <p:nvPr/>
        </p:nvSpPr>
        <p:spPr>
          <a:xfrm>
            <a:off x="7867650" y="114173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9" name="Rectangles 118"/>
          <p:cNvSpPr/>
          <p:nvPr/>
        </p:nvSpPr>
        <p:spPr>
          <a:xfrm>
            <a:off x="7867650" y="12922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0" name="Rectangles 119"/>
          <p:cNvSpPr/>
          <p:nvPr/>
        </p:nvSpPr>
        <p:spPr>
          <a:xfrm>
            <a:off x="7867650" y="144780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1" name="Rectangles 120"/>
          <p:cNvSpPr/>
          <p:nvPr/>
        </p:nvSpPr>
        <p:spPr>
          <a:xfrm>
            <a:off x="7867650" y="160845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2" name="Rectangles 121"/>
          <p:cNvSpPr/>
          <p:nvPr/>
        </p:nvSpPr>
        <p:spPr>
          <a:xfrm>
            <a:off x="7867650" y="17691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3" name="Rectangles 122"/>
          <p:cNvSpPr/>
          <p:nvPr/>
        </p:nvSpPr>
        <p:spPr>
          <a:xfrm>
            <a:off x="7867650" y="8166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4" name="Rectangles 123"/>
          <p:cNvSpPr/>
          <p:nvPr/>
        </p:nvSpPr>
        <p:spPr>
          <a:xfrm>
            <a:off x="7867650" y="9759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5" name="Rectangles 124"/>
          <p:cNvSpPr/>
          <p:nvPr/>
        </p:nvSpPr>
        <p:spPr>
          <a:xfrm>
            <a:off x="7867650" y="114173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6" name="Rectangles 125"/>
          <p:cNvSpPr/>
          <p:nvPr/>
        </p:nvSpPr>
        <p:spPr>
          <a:xfrm>
            <a:off x="7867650" y="12922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7" name="Rectangles 126"/>
          <p:cNvSpPr/>
          <p:nvPr/>
        </p:nvSpPr>
        <p:spPr>
          <a:xfrm>
            <a:off x="7867650" y="144780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8" name="Rectangles 127"/>
          <p:cNvSpPr/>
          <p:nvPr/>
        </p:nvSpPr>
        <p:spPr>
          <a:xfrm>
            <a:off x="7867650" y="160845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9" name="Rectangles 128"/>
          <p:cNvSpPr/>
          <p:nvPr/>
        </p:nvSpPr>
        <p:spPr>
          <a:xfrm>
            <a:off x="7867650" y="17691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0" name="Rectangles 129"/>
          <p:cNvSpPr/>
          <p:nvPr/>
        </p:nvSpPr>
        <p:spPr>
          <a:xfrm>
            <a:off x="7867650" y="8166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1" name="Rectangles 130"/>
          <p:cNvSpPr/>
          <p:nvPr/>
        </p:nvSpPr>
        <p:spPr>
          <a:xfrm>
            <a:off x="7867650" y="97599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2" name="Rectangles 131"/>
          <p:cNvSpPr/>
          <p:nvPr/>
        </p:nvSpPr>
        <p:spPr>
          <a:xfrm>
            <a:off x="7867650" y="114173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3" name="Rectangles 132"/>
          <p:cNvSpPr/>
          <p:nvPr/>
        </p:nvSpPr>
        <p:spPr>
          <a:xfrm>
            <a:off x="7867650" y="12922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4" name="Rectangles 133"/>
          <p:cNvSpPr/>
          <p:nvPr/>
        </p:nvSpPr>
        <p:spPr>
          <a:xfrm>
            <a:off x="7867650" y="144780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5" name="Rectangles 134"/>
          <p:cNvSpPr/>
          <p:nvPr/>
        </p:nvSpPr>
        <p:spPr>
          <a:xfrm>
            <a:off x="7867650" y="160845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6" name="Rectangles 135"/>
          <p:cNvSpPr/>
          <p:nvPr/>
        </p:nvSpPr>
        <p:spPr>
          <a:xfrm>
            <a:off x="7867650" y="17691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7" name="Text Box 136"/>
          <p:cNvSpPr txBox="1"/>
          <p:nvPr/>
        </p:nvSpPr>
        <p:spPr>
          <a:xfrm>
            <a:off x="7661910" y="2124710"/>
            <a:ext cx="645795" cy="360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128</a:t>
            </a:r>
            <a:endParaRPr lang="en-US"/>
          </a:p>
        </p:txBody>
      </p:sp>
      <p:sp>
        <p:nvSpPr>
          <p:cNvPr id="138" name="Text Box 137"/>
          <p:cNvSpPr txBox="1"/>
          <p:nvPr/>
        </p:nvSpPr>
        <p:spPr>
          <a:xfrm>
            <a:off x="7661910" y="509905"/>
            <a:ext cx="645795" cy="360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128</a:t>
            </a:r>
            <a:endParaRPr lang="en-US"/>
          </a:p>
        </p:txBody>
      </p:sp>
      <p:cxnSp>
        <p:nvCxnSpPr>
          <p:cNvPr id="139" name="Straight Arrow Connector 138"/>
          <p:cNvCxnSpPr>
            <a:stCxn id="110" idx="3"/>
            <a:endCxn id="133" idx="1"/>
          </p:cNvCxnSpPr>
          <p:nvPr/>
        </p:nvCxnSpPr>
        <p:spPr>
          <a:xfrm>
            <a:off x="7497445" y="1313815"/>
            <a:ext cx="370205" cy="590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stCxn id="111" idx="3"/>
          </p:cNvCxnSpPr>
          <p:nvPr/>
        </p:nvCxnSpPr>
        <p:spPr>
          <a:xfrm>
            <a:off x="7457440" y="2889250"/>
            <a:ext cx="410210" cy="1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1" name="Rectangles 140"/>
          <p:cNvSpPr/>
          <p:nvPr/>
        </p:nvSpPr>
        <p:spPr>
          <a:xfrm>
            <a:off x="7867650" y="248475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2" name="Rectangles 141"/>
          <p:cNvSpPr/>
          <p:nvPr/>
        </p:nvSpPr>
        <p:spPr>
          <a:xfrm>
            <a:off x="7867650" y="26441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3" name="Rectangles 142"/>
          <p:cNvSpPr/>
          <p:nvPr/>
        </p:nvSpPr>
        <p:spPr>
          <a:xfrm>
            <a:off x="7867650" y="28098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4" name="Rectangles 143"/>
          <p:cNvSpPr/>
          <p:nvPr/>
        </p:nvSpPr>
        <p:spPr>
          <a:xfrm>
            <a:off x="7867650" y="296037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5" name="Rectangles 144"/>
          <p:cNvSpPr/>
          <p:nvPr/>
        </p:nvSpPr>
        <p:spPr>
          <a:xfrm>
            <a:off x="7867650" y="311594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6" name="Rectangles 145"/>
          <p:cNvSpPr/>
          <p:nvPr/>
        </p:nvSpPr>
        <p:spPr>
          <a:xfrm>
            <a:off x="7867650" y="327660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7" name="Rectangles 146"/>
          <p:cNvSpPr/>
          <p:nvPr/>
        </p:nvSpPr>
        <p:spPr>
          <a:xfrm>
            <a:off x="7867650" y="343725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8" name="Rectangles 147"/>
          <p:cNvSpPr/>
          <p:nvPr/>
        </p:nvSpPr>
        <p:spPr>
          <a:xfrm>
            <a:off x="7867650" y="248475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9" name="Rectangles 148"/>
          <p:cNvSpPr/>
          <p:nvPr/>
        </p:nvSpPr>
        <p:spPr>
          <a:xfrm>
            <a:off x="7867650" y="26441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0" name="Rectangles 149"/>
          <p:cNvSpPr/>
          <p:nvPr/>
        </p:nvSpPr>
        <p:spPr>
          <a:xfrm>
            <a:off x="7867650" y="28098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1" name="Rectangles 150"/>
          <p:cNvSpPr/>
          <p:nvPr/>
        </p:nvSpPr>
        <p:spPr>
          <a:xfrm>
            <a:off x="7867650" y="296037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2" name="Rectangles 151"/>
          <p:cNvSpPr/>
          <p:nvPr/>
        </p:nvSpPr>
        <p:spPr>
          <a:xfrm>
            <a:off x="7867650" y="311594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3" name="Rectangles 152"/>
          <p:cNvSpPr/>
          <p:nvPr/>
        </p:nvSpPr>
        <p:spPr>
          <a:xfrm>
            <a:off x="7867650" y="327660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4" name="Rectangles 153"/>
          <p:cNvSpPr/>
          <p:nvPr/>
        </p:nvSpPr>
        <p:spPr>
          <a:xfrm>
            <a:off x="7867650" y="343725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5" name="Rectangles 154"/>
          <p:cNvSpPr/>
          <p:nvPr/>
        </p:nvSpPr>
        <p:spPr>
          <a:xfrm>
            <a:off x="7867650" y="248475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6" name="Rectangles 155"/>
          <p:cNvSpPr/>
          <p:nvPr/>
        </p:nvSpPr>
        <p:spPr>
          <a:xfrm>
            <a:off x="7867650" y="26441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7" name="Rectangles 156"/>
          <p:cNvSpPr/>
          <p:nvPr/>
        </p:nvSpPr>
        <p:spPr>
          <a:xfrm>
            <a:off x="7867650" y="280987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8" name="Rectangles 157"/>
          <p:cNvSpPr/>
          <p:nvPr/>
        </p:nvSpPr>
        <p:spPr>
          <a:xfrm>
            <a:off x="7867650" y="296037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9" name="Rectangles 158"/>
          <p:cNvSpPr/>
          <p:nvPr/>
        </p:nvSpPr>
        <p:spPr>
          <a:xfrm>
            <a:off x="7867650" y="311594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0" name="Rectangles 159"/>
          <p:cNvSpPr/>
          <p:nvPr/>
        </p:nvSpPr>
        <p:spPr>
          <a:xfrm>
            <a:off x="7867650" y="327660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1" name="Rectangles 160"/>
          <p:cNvSpPr/>
          <p:nvPr/>
        </p:nvSpPr>
        <p:spPr>
          <a:xfrm>
            <a:off x="7867650" y="343725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2" name="Rectangles 161"/>
          <p:cNvSpPr/>
          <p:nvPr/>
        </p:nvSpPr>
        <p:spPr>
          <a:xfrm>
            <a:off x="9251950" y="22828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3" name="Rectangles 162"/>
          <p:cNvSpPr/>
          <p:nvPr/>
        </p:nvSpPr>
        <p:spPr>
          <a:xfrm>
            <a:off x="9251950" y="24422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4" name="Rectangles 163"/>
          <p:cNvSpPr/>
          <p:nvPr/>
        </p:nvSpPr>
        <p:spPr>
          <a:xfrm>
            <a:off x="9251950" y="260794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5" name="Rectangles 164"/>
          <p:cNvSpPr/>
          <p:nvPr/>
        </p:nvSpPr>
        <p:spPr>
          <a:xfrm>
            <a:off x="9251950" y="27584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6" name="Rectangles 165"/>
          <p:cNvSpPr/>
          <p:nvPr/>
        </p:nvSpPr>
        <p:spPr>
          <a:xfrm>
            <a:off x="9251950" y="291401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7" name="Rectangles 166"/>
          <p:cNvSpPr/>
          <p:nvPr/>
        </p:nvSpPr>
        <p:spPr>
          <a:xfrm>
            <a:off x="9251950" y="307467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8" name="Rectangles 167"/>
          <p:cNvSpPr/>
          <p:nvPr/>
        </p:nvSpPr>
        <p:spPr>
          <a:xfrm>
            <a:off x="9251950" y="32353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9" name="Rectangles 168"/>
          <p:cNvSpPr/>
          <p:nvPr/>
        </p:nvSpPr>
        <p:spPr>
          <a:xfrm>
            <a:off x="9251950" y="22828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0" name="Rectangles 169"/>
          <p:cNvSpPr/>
          <p:nvPr/>
        </p:nvSpPr>
        <p:spPr>
          <a:xfrm>
            <a:off x="9251950" y="24422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1" name="Rectangles 170"/>
          <p:cNvSpPr/>
          <p:nvPr/>
        </p:nvSpPr>
        <p:spPr>
          <a:xfrm>
            <a:off x="9251950" y="260794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2" name="Rectangles 171"/>
          <p:cNvSpPr/>
          <p:nvPr/>
        </p:nvSpPr>
        <p:spPr>
          <a:xfrm>
            <a:off x="9251950" y="27584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3" name="Rectangles 172"/>
          <p:cNvSpPr/>
          <p:nvPr/>
        </p:nvSpPr>
        <p:spPr>
          <a:xfrm>
            <a:off x="9251950" y="291401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4" name="Rectangles 173"/>
          <p:cNvSpPr/>
          <p:nvPr/>
        </p:nvSpPr>
        <p:spPr>
          <a:xfrm>
            <a:off x="9251950" y="307467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5" name="Rectangles 174"/>
          <p:cNvSpPr/>
          <p:nvPr/>
        </p:nvSpPr>
        <p:spPr>
          <a:xfrm>
            <a:off x="9251950" y="32353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6" name="Rectangles 175"/>
          <p:cNvSpPr/>
          <p:nvPr/>
        </p:nvSpPr>
        <p:spPr>
          <a:xfrm>
            <a:off x="9251950" y="22828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7" name="Rectangles 176"/>
          <p:cNvSpPr/>
          <p:nvPr/>
        </p:nvSpPr>
        <p:spPr>
          <a:xfrm>
            <a:off x="9251950" y="24422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8" name="Rectangles 177"/>
          <p:cNvSpPr/>
          <p:nvPr/>
        </p:nvSpPr>
        <p:spPr>
          <a:xfrm>
            <a:off x="9251950" y="260794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9" name="Rectangles 178"/>
          <p:cNvSpPr/>
          <p:nvPr/>
        </p:nvSpPr>
        <p:spPr>
          <a:xfrm>
            <a:off x="9251950" y="27584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0" name="Rectangles 179"/>
          <p:cNvSpPr/>
          <p:nvPr/>
        </p:nvSpPr>
        <p:spPr>
          <a:xfrm>
            <a:off x="9251950" y="291401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1" name="Rectangles 180"/>
          <p:cNvSpPr/>
          <p:nvPr/>
        </p:nvSpPr>
        <p:spPr>
          <a:xfrm>
            <a:off x="9251950" y="307467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2" name="Rectangles 181"/>
          <p:cNvSpPr/>
          <p:nvPr/>
        </p:nvSpPr>
        <p:spPr>
          <a:xfrm>
            <a:off x="9251950" y="32353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3" name="Rectangles 182"/>
          <p:cNvSpPr/>
          <p:nvPr/>
        </p:nvSpPr>
        <p:spPr>
          <a:xfrm>
            <a:off x="9251950" y="22828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4" name="Rectangles 183"/>
          <p:cNvSpPr/>
          <p:nvPr/>
        </p:nvSpPr>
        <p:spPr>
          <a:xfrm>
            <a:off x="9251950" y="24422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5" name="Rectangles 184"/>
          <p:cNvSpPr/>
          <p:nvPr/>
        </p:nvSpPr>
        <p:spPr>
          <a:xfrm>
            <a:off x="9251950" y="260794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6" name="Rectangles 185"/>
          <p:cNvSpPr/>
          <p:nvPr/>
        </p:nvSpPr>
        <p:spPr>
          <a:xfrm>
            <a:off x="9251950" y="27584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7" name="Rectangles 186"/>
          <p:cNvSpPr/>
          <p:nvPr/>
        </p:nvSpPr>
        <p:spPr>
          <a:xfrm>
            <a:off x="9251950" y="291401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8" name="Rectangles 187"/>
          <p:cNvSpPr/>
          <p:nvPr/>
        </p:nvSpPr>
        <p:spPr>
          <a:xfrm>
            <a:off x="9251950" y="307467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9" name="Rectangles 188"/>
          <p:cNvSpPr/>
          <p:nvPr/>
        </p:nvSpPr>
        <p:spPr>
          <a:xfrm>
            <a:off x="9251950" y="32353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0" name="Rectangles 189"/>
          <p:cNvSpPr/>
          <p:nvPr/>
        </p:nvSpPr>
        <p:spPr>
          <a:xfrm>
            <a:off x="9251950" y="22828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1" name="Rectangles 190"/>
          <p:cNvSpPr/>
          <p:nvPr/>
        </p:nvSpPr>
        <p:spPr>
          <a:xfrm>
            <a:off x="9251950" y="24422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2" name="Rectangles 191"/>
          <p:cNvSpPr/>
          <p:nvPr/>
        </p:nvSpPr>
        <p:spPr>
          <a:xfrm>
            <a:off x="9251950" y="260794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3" name="Rectangles 192"/>
          <p:cNvSpPr/>
          <p:nvPr/>
        </p:nvSpPr>
        <p:spPr>
          <a:xfrm>
            <a:off x="9251950" y="27584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4" name="Rectangles 193"/>
          <p:cNvSpPr/>
          <p:nvPr/>
        </p:nvSpPr>
        <p:spPr>
          <a:xfrm>
            <a:off x="9251950" y="291401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5" name="Rectangles 194"/>
          <p:cNvSpPr/>
          <p:nvPr/>
        </p:nvSpPr>
        <p:spPr>
          <a:xfrm>
            <a:off x="9251950" y="307467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6" name="Rectangles 195"/>
          <p:cNvSpPr/>
          <p:nvPr/>
        </p:nvSpPr>
        <p:spPr>
          <a:xfrm>
            <a:off x="9251950" y="32353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7" name="Rectangles 196"/>
          <p:cNvSpPr/>
          <p:nvPr/>
        </p:nvSpPr>
        <p:spPr>
          <a:xfrm>
            <a:off x="9251950" y="22828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8" name="Rectangles 197"/>
          <p:cNvSpPr/>
          <p:nvPr/>
        </p:nvSpPr>
        <p:spPr>
          <a:xfrm>
            <a:off x="9251950" y="244221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9" name="Rectangles 198"/>
          <p:cNvSpPr/>
          <p:nvPr/>
        </p:nvSpPr>
        <p:spPr>
          <a:xfrm>
            <a:off x="9251950" y="260794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0" name="Rectangles 199"/>
          <p:cNvSpPr/>
          <p:nvPr/>
        </p:nvSpPr>
        <p:spPr>
          <a:xfrm>
            <a:off x="9251950" y="275844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1" name="Rectangles 200"/>
          <p:cNvSpPr/>
          <p:nvPr/>
        </p:nvSpPr>
        <p:spPr>
          <a:xfrm>
            <a:off x="9251950" y="291401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2" name="Rectangles 201"/>
          <p:cNvSpPr/>
          <p:nvPr/>
        </p:nvSpPr>
        <p:spPr>
          <a:xfrm>
            <a:off x="9251950" y="307467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3" name="Rectangles 202"/>
          <p:cNvSpPr/>
          <p:nvPr/>
        </p:nvSpPr>
        <p:spPr>
          <a:xfrm>
            <a:off x="9251950" y="323532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4" name="Rectangles 203"/>
          <p:cNvSpPr/>
          <p:nvPr/>
        </p:nvSpPr>
        <p:spPr>
          <a:xfrm>
            <a:off x="9251950" y="1155065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5" name="Rectangles 204"/>
          <p:cNvSpPr/>
          <p:nvPr/>
        </p:nvSpPr>
        <p:spPr>
          <a:xfrm>
            <a:off x="9251950" y="1314450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6" name="Rectangles 205"/>
          <p:cNvSpPr/>
          <p:nvPr/>
        </p:nvSpPr>
        <p:spPr>
          <a:xfrm>
            <a:off x="9251950" y="1480185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7" name="Rectangles 206"/>
          <p:cNvSpPr/>
          <p:nvPr/>
        </p:nvSpPr>
        <p:spPr>
          <a:xfrm>
            <a:off x="9251950" y="1630680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8" name="Rectangles 207"/>
          <p:cNvSpPr/>
          <p:nvPr/>
        </p:nvSpPr>
        <p:spPr>
          <a:xfrm>
            <a:off x="9251950" y="1786255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9" name="Rectangles 208"/>
          <p:cNvSpPr/>
          <p:nvPr/>
        </p:nvSpPr>
        <p:spPr>
          <a:xfrm>
            <a:off x="9251950" y="1946910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0" name="Rectangles 209"/>
          <p:cNvSpPr/>
          <p:nvPr/>
        </p:nvSpPr>
        <p:spPr>
          <a:xfrm>
            <a:off x="9251950" y="2107565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1" name="Rectangles 210"/>
          <p:cNvSpPr/>
          <p:nvPr/>
        </p:nvSpPr>
        <p:spPr>
          <a:xfrm>
            <a:off x="9251950" y="1155065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2" name="Rectangles 211"/>
          <p:cNvSpPr/>
          <p:nvPr/>
        </p:nvSpPr>
        <p:spPr>
          <a:xfrm>
            <a:off x="9251950" y="1314450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3" name="Rectangles 212"/>
          <p:cNvSpPr/>
          <p:nvPr/>
        </p:nvSpPr>
        <p:spPr>
          <a:xfrm>
            <a:off x="9251950" y="1480185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4" name="Rectangles 213"/>
          <p:cNvSpPr/>
          <p:nvPr/>
        </p:nvSpPr>
        <p:spPr>
          <a:xfrm>
            <a:off x="9251950" y="1630680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5" name="Rectangles 214"/>
          <p:cNvSpPr/>
          <p:nvPr/>
        </p:nvSpPr>
        <p:spPr>
          <a:xfrm>
            <a:off x="9251950" y="1786255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6" name="Rectangles 215"/>
          <p:cNvSpPr/>
          <p:nvPr/>
        </p:nvSpPr>
        <p:spPr>
          <a:xfrm>
            <a:off x="9251950" y="1946910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7" name="Rectangles 216"/>
          <p:cNvSpPr/>
          <p:nvPr/>
        </p:nvSpPr>
        <p:spPr>
          <a:xfrm>
            <a:off x="9251950" y="2107565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8" name="Rectangles 217"/>
          <p:cNvSpPr/>
          <p:nvPr/>
        </p:nvSpPr>
        <p:spPr>
          <a:xfrm>
            <a:off x="9251950" y="1155065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9" name="Rectangles 218"/>
          <p:cNvSpPr/>
          <p:nvPr/>
        </p:nvSpPr>
        <p:spPr>
          <a:xfrm>
            <a:off x="9251950" y="1314450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0" name="Rectangles 219"/>
          <p:cNvSpPr/>
          <p:nvPr/>
        </p:nvSpPr>
        <p:spPr>
          <a:xfrm>
            <a:off x="9251950" y="1480185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1" name="Rectangles 220"/>
          <p:cNvSpPr/>
          <p:nvPr/>
        </p:nvSpPr>
        <p:spPr>
          <a:xfrm>
            <a:off x="9251950" y="1630680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2" name="Rectangles 221"/>
          <p:cNvSpPr/>
          <p:nvPr/>
        </p:nvSpPr>
        <p:spPr>
          <a:xfrm>
            <a:off x="9251950" y="1786255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3" name="Rectangles 222"/>
          <p:cNvSpPr/>
          <p:nvPr/>
        </p:nvSpPr>
        <p:spPr>
          <a:xfrm>
            <a:off x="9251950" y="1946910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4" name="Rectangles 223"/>
          <p:cNvSpPr/>
          <p:nvPr/>
        </p:nvSpPr>
        <p:spPr>
          <a:xfrm>
            <a:off x="9251950" y="2107565"/>
            <a:ext cx="233680" cy="178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25" name="Straight Arrow Connector 224"/>
          <p:cNvCxnSpPr/>
          <p:nvPr/>
        </p:nvCxnSpPr>
        <p:spPr>
          <a:xfrm>
            <a:off x="8101330" y="1381760"/>
            <a:ext cx="1127125" cy="6756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>
            <a:endCxn id="198" idx="1"/>
          </p:cNvCxnSpPr>
          <p:nvPr/>
        </p:nvCxnSpPr>
        <p:spPr>
          <a:xfrm flipV="1">
            <a:off x="8101330" y="2522855"/>
            <a:ext cx="1150620" cy="4375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7" name="Text Box 226"/>
          <p:cNvSpPr txBox="1"/>
          <p:nvPr/>
        </p:nvSpPr>
        <p:spPr>
          <a:xfrm rot="2100000">
            <a:off x="8058150" y="1479550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Concatenate</a:t>
            </a:r>
            <a:endParaRPr lang="en-US"/>
          </a:p>
        </p:txBody>
      </p:sp>
      <p:sp>
        <p:nvSpPr>
          <p:cNvPr id="228" name="Text Box 227"/>
          <p:cNvSpPr txBox="1"/>
          <p:nvPr/>
        </p:nvSpPr>
        <p:spPr>
          <a:xfrm rot="20280000">
            <a:off x="8005445" y="231203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Concatenate</a:t>
            </a:r>
            <a:endParaRPr lang="en-US"/>
          </a:p>
        </p:txBody>
      </p:sp>
      <p:sp>
        <p:nvSpPr>
          <p:cNvPr id="229" name="Text Box 228"/>
          <p:cNvSpPr txBox="1"/>
          <p:nvPr/>
        </p:nvSpPr>
        <p:spPr>
          <a:xfrm>
            <a:off x="9079230" y="798195"/>
            <a:ext cx="730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256</a:t>
            </a:r>
            <a:endParaRPr lang="en-US"/>
          </a:p>
        </p:txBody>
      </p:sp>
      <p:sp>
        <p:nvSpPr>
          <p:cNvPr id="230" name="Rectangles 229"/>
          <p:cNvSpPr/>
          <p:nvPr/>
        </p:nvSpPr>
        <p:spPr>
          <a:xfrm>
            <a:off x="10721975" y="2191385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1" name="Rectangles 230"/>
          <p:cNvSpPr/>
          <p:nvPr/>
        </p:nvSpPr>
        <p:spPr>
          <a:xfrm>
            <a:off x="10721975" y="2362200"/>
            <a:ext cx="233680" cy="160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32" name="Straight Arrow Connector 231"/>
          <p:cNvCxnSpPr/>
          <p:nvPr/>
        </p:nvCxnSpPr>
        <p:spPr>
          <a:xfrm>
            <a:off x="9439275" y="2282825"/>
            <a:ext cx="1265555" cy="22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3" name="文本框 10"/>
          <p:cNvSpPr txBox="1"/>
          <p:nvPr/>
        </p:nvSpPr>
        <p:spPr>
          <a:xfrm>
            <a:off x="7158990" y="106680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tx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Xây dựng BiLSTM</a:t>
            </a:r>
            <a:endParaRPr lang="en-US" altLang="zh-CN" sz="2400" b="1">
              <a:solidFill>
                <a:schemeClr val="tx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234" name="Text Box 233"/>
          <p:cNvSpPr txBox="1"/>
          <p:nvPr/>
        </p:nvSpPr>
        <p:spPr>
          <a:xfrm>
            <a:off x="0" y="618490"/>
            <a:ext cx="757555" cy="1965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w1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w2</a:t>
            </a:r>
            <a:endParaRPr lang="en-US"/>
          </a:p>
          <a:p>
            <a:endParaRPr lang="en-US"/>
          </a:p>
          <a:p>
            <a:r>
              <a:rPr lang="en-US"/>
              <a:t> .</a:t>
            </a:r>
            <a:endParaRPr lang="en-US"/>
          </a:p>
          <a:p>
            <a:r>
              <a:rPr lang="en-US"/>
              <a:t> .</a:t>
            </a:r>
            <a:endParaRPr lang="en-US"/>
          </a:p>
          <a:p>
            <a:r>
              <a:rPr lang="en-US"/>
              <a:t> .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wn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55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25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16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21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64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63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65" name="文本框 64"/>
              <p:cNvSpPr txBox="1"/>
              <p:nvPr/>
            </p:nvSpPr>
            <p:spPr>
              <a:xfrm flipH="1">
                <a:off x="7526" y="4535"/>
                <a:ext cx="6169" cy="1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5600" i="1" cap="all" dirty="0">
                    <a:solidFill>
                      <a:schemeClr val="bg2"/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Result</a:t>
                </a:r>
                <a:endParaRPr lang="en-US" altLang="zh-CN" sz="56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4929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04</a:t>
                </a:r>
                <a:endParaRPr lang="en-US" altLang="zh-CN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3" name="文本框 2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237" y="6007"/>
                <a:ext cx="4478" cy="33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dist"/>
                <a:r>
                  <a:rPr sz="800" i="1" cap="all">
                    <a:ln>
                      <a:noFill/>
                    </a:ln>
                    <a:solidFill>
                      <a:schemeClr val="bg1">
                        <a:alpha val="50000"/>
                      </a:schemeClr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Add a short description</a:t>
                </a:r>
                <a:endParaRPr sz="800" i="1" cap="all">
                  <a:ln>
                    <a:noFill/>
                  </a:ln>
                  <a:solidFill>
                    <a:schemeClr val="bg1">
                      <a:alpha val="50000"/>
                    </a:schemeClr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</p:txBody>
          </p:sp>
        </p:grpSp>
      </p:grpSp>
    </p:spTree>
    <p:custDataLst>
      <p:tags r:id="rId6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9" name="平行四边形 8"/>
          <p:cNvSpPr/>
          <p:nvPr>
            <p:custDataLst>
              <p:tags r:id="rId2"/>
            </p:custDataLst>
          </p:nvPr>
        </p:nvSpPr>
        <p:spPr>
          <a:xfrm rot="10800000" flipH="1">
            <a:off x="774065" y="1522095"/>
            <a:ext cx="10772775" cy="4441190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Machine Learning</a:t>
            </a:r>
            <a:endParaRPr lang="en-US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aphicFrame>
        <p:nvGraphicFramePr>
          <p:cNvPr id="5" name="Table 4"/>
          <p:cNvGraphicFramePr/>
          <p:nvPr>
            <p:custDataLst>
              <p:tags r:id="rId4"/>
            </p:custDataLst>
          </p:nvPr>
        </p:nvGraphicFramePr>
        <p:xfrm>
          <a:off x="1735455" y="1130935"/>
          <a:ext cx="8933815" cy="5161280"/>
        </p:xfrm>
        <a:graphic>
          <a:graphicData uri="http://schemas.openxmlformats.org/drawingml/2006/table">
            <a:tbl>
              <a:tblPr/>
              <a:tblGrid>
                <a:gridCol w="1569720"/>
                <a:gridCol w="1296035"/>
                <a:gridCol w="1143635"/>
                <a:gridCol w="944880"/>
                <a:gridCol w="1295400"/>
                <a:gridCol w="1373505"/>
                <a:gridCol w="1310640"/>
              </a:tblGrid>
              <a:tr h="1625600">
                <a:tc>
                  <a:txBody>
                    <a:bodyPr/>
                    <a:p>
                      <a:pPr marL="50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Mô hình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Accuracy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F1-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  <a:p>
                      <a:pPr marL="50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Macro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F1-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  <a:p>
                      <a:pPr marL="50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Micro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Precision (Seeding)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Recall (Seeding)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F1 (Seeding)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</a:tr>
              <a:tr h="1625600"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Logistic Regression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0.8679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0.6847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0.8679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0.3717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0.5526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0.4444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</a:tr>
              <a:tr h="954405"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Naive Bayes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0.8998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0.6791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0.8998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0.4698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0.3684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0.4130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</a:tr>
              <a:tr h="955675"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SVM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0.8651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0.6790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0.8651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0.3627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0.5421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0.4346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</p:spTree>
    <p:custDataLst>
      <p:tags r:id="rId5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106045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Deep learning</a:t>
            </a:r>
            <a:endParaRPr lang="en-US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aphicFrame>
        <p:nvGraphicFramePr>
          <p:cNvPr id="5" name="Table 4"/>
          <p:cNvGraphicFramePr/>
          <p:nvPr>
            <p:custDataLst>
              <p:tags r:id="rId3"/>
            </p:custDataLst>
          </p:nvPr>
        </p:nvGraphicFramePr>
        <p:xfrm>
          <a:off x="2101215" y="861060"/>
          <a:ext cx="8053705" cy="5697855"/>
        </p:xfrm>
        <a:graphic>
          <a:graphicData uri="http://schemas.openxmlformats.org/drawingml/2006/table">
            <a:tbl>
              <a:tblPr/>
              <a:tblGrid>
                <a:gridCol w="1594485"/>
                <a:gridCol w="1360805"/>
                <a:gridCol w="1167130"/>
                <a:gridCol w="1306195"/>
                <a:gridCol w="1374775"/>
                <a:gridCol w="1250315"/>
              </a:tblGrid>
              <a:tr h="1899285">
                <a:tc>
                  <a:txBody>
                    <a:bodyPr/>
                    <a:p>
                      <a:pPr marL="50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Mô hình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Accuracy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Precision (Seeding)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Recall (Seeding)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F1-score (Seeding)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F1-macro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</a:tr>
              <a:tr h="1899285"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CNN + fastText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0.8787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0.39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0.50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0.44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>
                          <a:latin typeface="Times New Roman" panose="02020603050405020304"/>
                          <a:ea typeface="等线"/>
                        </a:rPr>
                        <a:t>0.6858</a:t>
                      </a:r>
                      <a:endParaRPr lang="en-US" altLang="zh-CN" sz="1300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</a:tr>
              <a:tr h="1899285"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BiLSTM + fastText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0.8812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0.41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0.53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0.46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300" b="1">
                          <a:latin typeface="Times New Roman" panose="02020603050405020304"/>
                          <a:ea typeface="等线"/>
                        </a:rPr>
                        <a:t>0.6972</a:t>
                      </a:r>
                      <a:endParaRPr lang="en-US" altLang="zh-CN" sz="1300" b="1">
                        <a:latin typeface="Times New Roman" panose="02020603050405020304"/>
                        <a:ea typeface="等线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55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25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16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21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64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63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65" name="文本框 64"/>
              <p:cNvSpPr txBox="1"/>
              <p:nvPr/>
            </p:nvSpPr>
            <p:spPr>
              <a:xfrm flipH="1">
                <a:off x="7526" y="4535"/>
                <a:ext cx="8090" cy="1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5600" i="1" cap="all" dirty="0">
                    <a:solidFill>
                      <a:schemeClr val="bg2"/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Conclusion</a:t>
                </a:r>
                <a:endParaRPr lang="en-US" altLang="zh-CN" sz="56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4929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05</a:t>
                </a:r>
                <a:endParaRPr lang="en-US" altLang="zh-CN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3" name="文本框 2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237" y="6007"/>
                <a:ext cx="4478" cy="33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dist"/>
                <a:r>
                  <a:rPr sz="800" i="1" cap="all">
                    <a:ln>
                      <a:noFill/>
                    </a:ln>
                    <a:solidFill>
                      <a:schemeClr val="bg1">
                        <a:alpha val="50000"/>
                      </a:schemeClr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Add a short description</a:t>
                </a:r>
                <a:endParaRPr sz="800" i="1" cap="all">
                  <a:ln>
                    <a:noFill/>
                  </a:ln>
                  <a:solidFill>
                    <a:schemeClr val="bg1">
                      <a:alpha val="50000"/>
                    </a:schemeClr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</p:txBody>
          </p:sp>
        </p:grpSp>
      </p:grpSp>
    </p:spTree>
    <p:custDataLst>
      <p:tags r:id="rId6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64" name="平行四边形 63"/>
          <p:cNvSpPr/>
          <p:nvPr>
            <p:custDataLst>
              <p:tags r:id="rId2"/>
            </p:custDataLst>
          </p:nvPr>
        </p:nvSpPr>
        <p:spPr>
          <a:xfrm rot="10800000">
            <a:off x="538480" y="1551940"/>
            <a:ext cx="10906760" cy="4341495"/>
          </a:xfrm>
          <a:prstGeom prst="parallelogram">
            <a:avLst>
              <a:gd name="adj" fmla="val 0"/>
            </a:avLst>
          </a:prstGeom>
          <a:solidFill>
            <a:schemeClr val="accent3">
              <a:alpha val="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Conclusion</a:t>
            </a:r>
            <a:endParaRPr lang="en-US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850265" y="1877060"/>
            <a:ext cx="9910445" cy="3281291"/>
            <a:chOff x="1339" y="2956"/>
            <a:chExt cx="7336" cy="5151"/>
          </a:xfrm>
        </p:grpSpPr>
        <p:sp>
          <p:nvSpPr>
            <p:cNvPr id="6" name="Oval 9"/>
            <p:cNvSpPr/>
            <p:nvPr/>
          </p:nvSpPr>
          <p:spPr>
            <a:xfrm>
              <a:off x="1339" y="6244"/>
              <a:ext cx="998" cy="106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dirty="0"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</a:rPr>
                <a:t>Future work</a:t>
              </a:r>
              <a:endParaRPr lang="en-US" dirty="0"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endParaRPr>
            </a:p>
          </p:txBody>
        </p:sp>
        <p:sp>
          <p:nvSpPr>
            <p:cNvPr id="19" name="TextBox 34"/>
            <p:cNvSpPr txBox="1"/>
            <p:nvPr/>
          </p:nvSpPr>
          <p:spPr>
            <a:xfrm>
              <a:off x="2613" y="2956"/>
              <a:ext cx="6062" cy="1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lvl="0" algn="l">
                <a:lnSpc>
                  <a:spcPct val="13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Mô hình BiLSTM v</a:t>
              </a:r>
              <a:r>
                <a:rPr lang="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ư</a:t>
              </a: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ợt trội về F1-Macro và F1-Micro, khẳng </a:t>
              </a:r>
              <a:r>
                <a:rPr lang="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đ</a:t>
              </a: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ịnh hiệu quả của kiến trúc học sâu khi xử l</a:t>
              </a:r>
              <a:r>
                <a:rPr lang="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ý</a:t>
              </a: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 chuỗi ngôn ngữ dài và ngữ cảnh hai chiều.</a:t>
              </a:r>
              <a:endParaRPr lang="en-US" altLang="en-US" sz="14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20" name="TextBox 34"/>
            <p:cNvSpPr txBox="1"/>
            <p:nvPr/>
          </p:nvSpPr>
          <p:spPr>
            <a:xfrm>
              <a:off x="2613" y="3958"/>
              <a:ext cx="6062" cy="1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lvl="0" algn="l">
                <a:lnSpc>
                  <a:spcPct val="13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Việc kết hợp embedding ngữ ngh</a:t>
              </a:r>
              <a:r>
                <a:rPr lang="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ĩ</a:t>
              </a: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a nh</a:t>
              </a:r>
              <a:r>
                <a:rPr lang="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ư</a:t>
              </a: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 FastText giúp cải thiện hiệu quả so với các ph</a:t>
              </a:r>
              <a:r>
                <a:rPr lang="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ư</a:t>
              </a: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ơng pháp vector hóa cơ bản nh</a:t>
              </a:r>
              <a:r>
                <a:rPr lang="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ư</a:t>
              </a: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 TF-IDF.</a:t>
              </a:r>
              <a:endParaRPr lang="en-US" altLang="en-US" sz="14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21" name="TextBox 34"/>
            <p:cNvSpPr txBox="1"/>
            <p:nvPr/>
          </p:nvSpPr>
          <p:spPr>
            <a:xfrm>
              <a:off x="2613" y="5138"/>
              <a:ext cx="6062" cy="1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lvl="0" algn="l">
                <a:lnSpc>
                  <a:spcPct val="13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Các kết quả </a:t>
              </a:r>
              <a:r>
                <a:rPr lang="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đ</a:t>
              </a: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ạt </a:t>
              </a:r>
              <a:r>
                <a:rPr lang="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đư</a:t>
              </a: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ợc còn thấp do còn có các hạn chế của </a:t>
              </a:r>
              <a:r>
                <a:rPr lang="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đ</a:t>
              </a: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ề tài nh</a:t>
              </a:r>
              <a:r>
                <a:rPr lang="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ư</a:t>
              </a: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 dữ liệu về seeding nói chung còn rất hạn chế, </a:t>
              </a:r>
              <a:r>
                <a:rPr lang="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đ</a:t>
              </a: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ặc biệt là ngôn ngữ tiếng Việt</a:t>
              </a:r>
              <a:endParaRPr lang="en-US" altLang="en-US" sz="14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22" name="TextBox 34"/>
            <p:cNvSpPr txBox="1"/>
            <p:nvPr/>
          </p:nvSpPr>
          <p:spPr>
            <a:xfrm>
              <a:off x="2502" y="7086"/>
              <a:ext cx="6062" cy="1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lvl="0" algn="l">
                <a:lnSpc>
                  <a:spcPct val="13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Xây dựng bộ dữ liệu chuyên biệt về seeding tiếng Việt, có nhãn </a:t>
              </a:r>
              <a:r>
                <a:rPr lang="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đư</a:t>
              </a: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ợc xác thực bởi chuyên gia, </a:t>
              </a:r>
              <a:r>
                <a:rPr lang="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đ</a:t>
              </a:r>
              <a:r>
                <a:rPr lang="en-US" altLang="en-US" sz="14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a dạng về nền tảng</a:t>
              </a:r>
              <a:endParaRPr lang="en-US" altLang="en-US" sz="14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</p:grpSp>
      <p:sp>
        <p:nvSpPr>
          <p:cNvPr id="16" name="Text Box 15"/>
          <p:cNvSpPr txBox="1"/>
          <p:nvPr/>
        </p:nvSpPr>
        <p:spPr>
          <a:xfrm>
            <a:off x="2421255" y="5174615"/>
            <a:ext cx="818896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bg1"/>
                </a:solidFill>
                <a:latin typeface="Times New Roman" panose="02020603050405020304"/>
                <a:ea typeface="等线"/>
              </a:rPr>
              <a:t>Kết hợp đặc trưng phi ngôn ngữ như thời gian, lượt tương tác, mạng lưới user (user graph), emoji, v.v. vào mô hình để tăng độ chính xác.</a:t>
            </a:r>
            <a:endParaRPr lang="en-US" altLang="zh-CN" sz="1600">
              <a:solidFill>
                <a:schemeClr val="bg1"/>
              </a:solidFill>
              <a:latin typeface="Times New Roman" panose="02020603050405020304"/>
              <a:ea typeface="等线"/>
            </a:endParaRPr>
          </a:p>
        </p:txBody>
      </p:sp>
      <p:sp>
        <p:nvSpPr>
          <p:cNvPr id="18" name="Oval 10"/>
          <p:cNvSpPr/>
          <p:nvPr/>
        </p:nvSpPr>
        <p:spPr>
          <a:xfrm>
            <a:off x="2091690" y="1975485"/>
            <a:ext cx="329565" cy="3448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3" name="Oval 10"/>
          <p:cNvSpPr/>
          <p:nvPr/>
        </p:nvSpPr>
        <p:spPr>
          <a:xfrm>
            <a:off x="2091690" y="2665730"/>
            <a:ext cx="329565" cy="3448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4" name="Oval 10"/>
          <p:cNvSpPr/>
          <p:nvPr/>
        </p:nvSpPr>
        <p:spPr>
          <a:xfrm>
            <a:off x="2091690" y="3429000"/>
            <a:ext cx="329565" cy="3448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2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7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12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BRIGHTNESS" val="0"/>
  <p:tag name="KSO_WM_UNIT_LINE_FORE_SCHEMECOLOR_INDEX" val="6"/>
  <p:tag name="KSO_WM_UNIT_LINE_FILL_TYPE" val="2"/>
</p:tagLst>
</file>

<file path=ppt/tags/tag129.xml><?xml version="1.0" encoding="utf-8"?>
<p:tagLst xmlns:p="http://schemas.openxmlformats.org/presentationml/2006/main">
  <p:tag name="KSO_WM_UNIT_LINE_FORE_SCHEMECOLOR_INDEX_1_BRIGHTNESS" val="-0.25"/>
  <p:tag name="KSO_WM_UNIT_LINE_FORE_SCHEMECOLOR_INDEX_1" val="16"/>
  <p:tag name="KSO_WM_UNIT_LINE_FORE_SCHEMECOLOR_INDEX_1_POS" val="0.3"/>
  <p:tag name="KSO_WM_UNIT_LINE_FORE_SCHEMECOLOR_INDEX_1_TRANS" val="1"/>
  <p:tag name="KSO_WM_UNIT_LINE_FORE_SCHEMECOLOR_INDEX_2_BRIGHTNESS" val="-0.25"/>
  <p:tag name="KSO_WM_UNIT_LINE_FORE_SCHEMECOLOR_INDEX_2" val="16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30"/>
  <p:tag name="KSO_WM_UNIT_FILL_GRADIENT_Direction" val="-2"/>
  <p:tag name="KSO_WM_UNIT_FILL_TYPE" val="3"/>
</p:tagLst>
</file>

<file path=ppt/tags/tag130.xml><?xml version="1.0" encoding="utf-8"?>
<p:tagLst xmlns:p="http://schemas.openxmlformats.org/presentationml/2006/main">
  <p:tag name="KSO_WM_UNIT_LINE_FORE_SCHEMECOLOR_INDEX_1_BRIGHTNESS" val="-0.25"/>
  <p:tag name="KSO_WM_UNIT_LINE_FORE_SCHEMECOLOR_INDEX_1" val="16"/>
  <p:tag name="KSO_WM_UNIT_LINE_FORE_SCHEMECOLOR_INDEX_1_POS" val="0.3"/>
  <p:tag name="KSO_WM_UNIT_LINE_FORE_SCHEMECOLOR_INDEX_1_TRANS" val="1"/>
  <p:tag name="KSO_WM_UNIT_LINE_FORE_SCHEMECOLOR_INDEX_2_BRIGHTNESS" val="-0.25"/>
  <p:tag name="KSO_WM_UNIT_LINE_FORE_SCHEMECOLOR_INDEX_2" val="16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TEXT_FILL_FORE_SCHEMECOLOR_INDEX_BRIGHTNESS" val="0"/>
  <p:tag name="KSO_WM_UNIT_TEXT_FILL_FORE_SCHEMECOLOR_INDEX" val="2"/>
  <p:tag name="KSO_WM_UNIT_TEXT_FILL_TYPE" val="1"/>
</p:tagLst>
</file>

<file path=ppt/tags/tag131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13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4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5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3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4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4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3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44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4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2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5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5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56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5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9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6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2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6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5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6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71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72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1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7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8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9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9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9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9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9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9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02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203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20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0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0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1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11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212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21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1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8.xml><?xml version="1.0" encoding="utf-8"?>
<p:tagLst xmlns:p="http://schemas.openxmlformats.org/presentationml/2006/main">
  <p:tag name="TABLE_ENDDRAG_ORIGIN_RECT" val="133*135"/>
  <p:tag name="TABLE_ENDDRAG_RECT" val="54*195*133*135"/>
</p:tagLst>
</file>

<file path=ppt/tags/tag2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2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23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224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2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2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28.xml><?xml version="1.0" encoding="utf-8"?>
<p:tagLst xmlns:p="http://schemas.openxmlformats.org/presentationml/2006/main">
  <p:tag name="TABLE_ENDDRAG_ORIGIN_RECT" val="703*406"/>
  <p:tag name="TABLE_ENDDRAG_RECT" val="136*89*703*406"/>
</p:tagLst>
</file>

<file path=ppt/tags/tag2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31.xml><?xml version="1.0" encoding="utf-8"?>
<p:tagLst xmlns:p="http://schemas.openxmlformats.org/presentationml/2006/main">
  <p:tag name="TABLE_ENDDRAG_ORIGIN_RECT" val="634*448"/>
  <p:tag name="TABLE_ENDDRAG_RECT" val="165*67*634*448"/>
</p:tagLst>
</file>

<file path=ppt/tags/tag2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3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35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236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2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3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41.xml><?xml version="1.0" encoding="utf-8"?>
<p:tagLst xmlns:p="http://schemas.openxmlformats.org/presentationml/2006/main">
  <p:tag name="COMMONDATA" val="eyJoZGlkIjoiMmNmYmEwOWQ4Y2Q0M2IxMGZkNjI4ZjhkZDQyNzg1OTYifQ=="/>
  <p:tag name="KSO_WPP_MARK_KEY" val="37523c5a-f9bd-4157-ab56-121979c0b78d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Inter"/>
        <a:ea typeface="Inter Black"/>
        <a:cs typeface=""/>
      </a:majorFont>
      <a:minorFont>
        <a:latin typeface="Inter"/>
        <a:ea typeface="Inter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675FC"/>
      </a:accent1>
      <a:accent2>
        <a:srgbClr val="4589FB"/>
      </a:accent2>
      <a:accent3>
        <a:srgbClr val="54A6FB"/>
      </a:accent3>
      <a:accent4>
        <a:srgbClr val="47B2FA"/>
      </a:accent4>
      <a:accent5>
        <a:srgbClr val="4AC7F9"/>
      </a:accent5>
      <a:accent6>
        <a:srgbClr val="4DDBF8"/>
      </a:accent6>
      <a:hlink>
        <a:srgbClr val="0563C1"/>
      </a:hlink>
      <a:folHlink>
        <a:srgbClr val="954D72"/>
      </a:folHlink>
    </a:clrScheme>
    <a:fontScheme name="自定义 9">
      <a:majorFont>
        <a:latin typeface="Inter"/>
        <a:ea typeface="Inter Black"/>
        <a:cs typeface=""/>
      </a:majorFont>
      <a:minorFont>
        <a:latin typeface="Inter"/>
        <a:ea typeface="Inter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 Black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 Black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3279</Words>
  <Application>WPS Presentation</Application>
  <PresentationFormat>宽屏</PresentationFormat>
  <Paragraphs>512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47" baseType="lpstr">
      <vt:lpstr>Arial</vt:lpstr>
      <vt:lpstr>SimSun</vt:lpstr>
      <vt:lpstr>Wingdings</vt:lpstr>
      <vt:lpstr>Inter</vt:lpstr>
      <vt:lpstr>Inter Black</vt:lpstr>
      <vt:lpstr>Wingdings</vt:lpstr>
      <vt:lpstr>Helvetica</vt:lpstr>
      <vt:lpstr>Microsoft YaHei</vt:lpstr>
      <vt:lpstr>Arial Unicode MS</vt:lpstr>
      <vt:lpstr>Lato Regular</vt:lpstr>
      <vt:lpstr>Segoe Print</vt:lpstr>
      <vt:lpstr>Roboto Slab Bold</vt:lpstr>
      <vt:lpstr>Roboto</vt:lpstr>
      <vt:lpstr>Roboto Slab Regular</vt:lpstr>
      <vt:lpstr>Montserrat-Regular</vt:lpstr>
      <vt:lpstr>Helvetica Light</vt:lpstr>
      <vt:lpstr>Roboto Medium</vt:lpstr>
      <vt:lpstr>Open Sans Light</vt:lpstr>
      <vt:lpstr>Times New Roman</vt:lpstr>
      <vt:lpstr>Leelawadee UI</vt:lpstr>
      <vt:lpstr>Times New Roman</vt:lpstr>
      <vt:lpstr>等线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Nguyễn Tùng Lâm</cp:lastModifiedBy>
  <cp:revision>166</cp:revision>
  <dcterms:created xsi:type="dcterms:W3CDTF">2019-06-19T02:08:00Z</dcterms:created>
  <dcterms:modified xsi:type="dcterms:W3CDTF">2025-05-24T02:07:32Z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1033-12.2.0.21179</vt:lpwstr>
  </property>
  <property fmtid="{D5CDD505-2E9C-101B-9397-08002B2CF9AE}" pid="3" name="ICV">
    <vt:lpwstr>E83F7CD361944CD8B71B51BFDACA34A1_11</vt:lpwstr>
  </property>
</Properties>
</file>